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各位老师好，今天的答辩围绕一个真实场景——校园失物招领。我们发现，失物信息散落在各个群聊里，同一个物品可能被重复发布，认领后还在转发。问题根源是缺少一个统一的记录入口。我们的原型只聚焦一个问题：能否用这样一个入口减少信息碎片？接下来，我将按问题、方法、证据和局限的顺序展开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失物消息散落在多个群聊，历史需逐条翻阅，旧信息被反复转发。</a:t>
            </a:r>
          </a:p>
          <a:p>
            <a:r>
              <a:t>[S1:3] validation.txt 第 3 段：学生在不同群聊发布失物和招领消息，历史消息需要逐条翻阅。</a:t>
            </a:r>
          </a:p>
          <a:p>
            <a:r>
              <a:t>相同物品可能重复发布，已认领仍继续传播。</a:t>
            </a:r>
          </a:p>
          <a:p>
            <a:r>
              <a:t>[S1:3] validation.txt 第 3 段：相同物品可能重复发布，消息缺少统一分类，已经认领的物品仍可能被继续转发。</a:t>
            </a:r>
          </a:p>
          <a:p>
            <a:r>
              <a:t>原型只回答：能否用统一记录入口减少信息碎片。</a:t>
            </a:r>
          </a:p>
          <a:p>
            <a:r>
              <a:t>[S1:4] validation.txt 第 4 段：构建统一的发布、浏览、检索和认领状态入口。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</a:t>
            </a:r>
          </a:p>
          <a:p>
            <a:r>
              <a:t>全篇主线：通过一个可验证的失物招领原型，界定在有限资源内解决了哪些核心问题，以及必须搁置的开放问题。</a:t>
            </a:r>
          </a:p>
          <a:p>
            <a:r>
              <a:t>本页作用：设定场景与核心问题</a:t>
            </a:r>
          </a:p>
          <a:p>
            <a:r>
              <a:t>建议用时：36 秒（需实际排练校准）</a:t>
            </a:r>
          </a:p>
          <a:p>
            <a:r>
              <a:t>衔接：接下来，我将按问题、方法、证据、局限的顺序展开答辩。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接下来我们快速过一遍答辩的逻辑链。从左到右依次是：为什么认准信息碎片化这个根源，已有认识告诉我们什么，我们为何选择关键词检索作为第一版方法，用12条记录验证了哪些功能，最后是哪些问题必须留给未来。这样大家心里有个地图，再看后面的具体结果就会更清楚边界在哪里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研究问题：信息碎片与重复发布，根源是什么？</a:t>
            </a:r>
          </a:p>
          <a:p>
            <a:r>
              <a:t>[S1:4] validation.txt 第 4 段：构建统一的发布、浏览、检索和认领状态入口。</a:t>
            </a:r>
          </a:p>
          <a:p>
            <a:r>
              <a:t>已有认识与缺口：统一入口的思路与边界。 — 待补充依据</a:t>
            </a:r>
          </a:p>
          <a:p>
            <a:r>
              <a:t>方法与取舍：为什么选关键词检索？ — AI 推断，需核对</a:t>
            </a:r>
          </a:p>
          <a:p>
            <a:r>
              <a:t>验证证据：12条记录的验收场景。</a:t>
            </a:r>
          </a:p>
          <a:p>
            <a:r>
              <a:t>[S1:15] validation.txt 第 15 段：在本地构造12条物品记录，用于检查发布后可见、关键词检索和状态展示。</a:t>
            </a:r>
          </a:p>
          <a:p>
            <a:r>
              <a:t>边界、贡献与开放问题 — AI 推断，需核对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</a:t>
            </a:r>
          </a:p>
          <a:p>
            <a:r>
              <a:t>全篇主线：通过一个可验证的失物招领原型，界定在有限资源内解决了哪些核心问题，以及必须搁置的开放问题。</a:t>
            </a:r>
          </a:p>
          <a:p>
            <a:r>
              <a:t>本页作用：导出叙事结构</a:t>
            </a:r>
          </a:p>
          <a:p>
            <a:r>
              <a:t>建议用时：36 秒（需实际排练校准）</a:t>
            </a:r>
          </a:p>
          <a:p>
            <a:r>
              <a:t>衔接：首先看我们面对的具体问题。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上一页我们提到了失物招领信息的分散和重复。那么，具体来说，群聊模式下，消息只能逐条翻阅，同一个物品可能被不同人多次发布，甚至已经认领了还会被转发。我们今天要探讨的核心问题就是：能否用一个统一的记录入口来减少这些信息碎片。我们的原型只包含了文字、类别、地点和状态，像图片相似度检索、智能身份识别这些更复杂的特性都没有包含。另外，我特别想说明一下，现有材料里并没有实际测量过查找物品需要多长时间，也没有搜索成功率的硬数据，这是我们后续需要补充验证的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群聊模式：消息散落，历史需逐条翻阅。</a:t>
            </a:r>
          </a:p>
          <a:p>
            <a:r>
              <a:t>[S1:3] validation.txt 第 3 段：学生在不同群聊发布失物和招领消息，历史消息需要逐条翻阅。</a:t>
            </a:r>
          </a:p>
          <a:p>
            <a:r>
              <a:t>重复与旧消息：相同物品可多次发布，已认领仍可能被转发。 — 待补充依据</a:t>
            </a:r>
          </a:p>
          <a:p>
            <a:r>
              <a:t>核心问题：能否用统一入口减少信息碎片？</a:t>
            </a:r>
          </a:p>
          <a:p>
            <a:r>
              <a:t>[S1:4] validation.txt 第 4 段：构建统一的发布、浏览、检索和认领状态入口。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</a:t>
            </a:r>
          </a:p>
          <a:p>
            <a:r>
              <a:t>全篇主线：通过一个可验证的失物招领原型，界定在有限资源内解决了哪些核心问题，以及必须搁置的开放问题。</a:t>
            </a:r>
          </a:p>
          <a:p>
            <a:r>
              <a:t>本页作用：界定问题范围</a:t>
            </a:r>
          </a:p>
          <a:p>
            <a:r>
              <a:t>建议用时：36 秒（需实际排练校准）</a:t>
            </a:r>
          </a:p>
          <a:p>
            <a:r>
              <a:t>衔接：在我们之前，有哪些认识和方法？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根据界面上的对比，我们已实现五个关键步骤：从信息发布到线下认领的状态更新。但右表显示，图片相似度检索、智能身份识别等五个模块尚未开发，原因在于我们优先解决了信息碎片这个最突出的问题，而复杂的语义和身份验证需要更多资源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路径：发布 → 分类、关键词搜索 → 详情核实 → 线下认领 → 更新状态。 — 待补充依据</a:t>
            </a:r>
          </a:p>
          <a:p>
            <a:r>
              <a:t>覆盖：统一的发布、检索和状态展示。</a:t>
            </a:r>
          </a:p>
          <a:p>
            <a:r>
              <a:t>[S1:4] validation.txt 第 4 段：构建统一的发布、浏览、检索和认领状态入口。</a:t>
            </a:r>
          </a:p>
          <a:p>
            <a:r>
              <a:t>缺口：未实现图片相似度检索、智能身份识别、支付、实时聊天、跨校区推荐。</a:t>
            </a:r>
          </a:p>
          <a:p>
            <a:r>
              <a:t>[S1:4] validation.txt 第 4 段：未实现图片相似度检索、智能身份识别、支付、实时聊天和跨校区推荐。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</a:t>
            </a:r>
          </a:p>
          <a:p>
            <a:r>
              <a:t>全篇主线：通过一个可验证的失物招领原型，界定在有限资源内解决了哪些核心问题，以及必须搁置的开放问题。</a:t>
            </a:r>
          </a:p>
          <a:p>
            <a:r>
              <a:t>本页作用：界定已有认识与边界</a:t>
            </a:r>
          </a:p>
          <a:p>
            <a:r>
              <a:t>建议用时：71 秒（需实际排练校准）</a:t>
            </a:r>
          </a:p>
          <a:p>
            <a:r>
              <a:t>衔接：确定缺口后，我们如何选择方法？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解释我们为什么选择关键词检索，而非主流的语义搜索。关键原因是项目初期需要确保结果可解释、问题可定位，关键词匹配正好满足这个需求，同时避免依赖外部图片和语义服务。当然这个取舍也有代价——同义表述可能漏检，而且我们无法直接对比两种策略的准确率。带着这个取舍，我们看看具体验证结果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方案：关键词匹配，便于解释结果和定位问题。</a:t>
            </a:r>
          </a:p>
          <a:p>
            <a:r>
              <a:t>[S1:11] validation.txt 第 11 段：原型采用关键词匹配，便于解释结果和定位问题。</a:t>
            </a:r>
          </a:p>
          <a:p>
            <a:r>
              <a:t>舍弃：语义检索未实施。</a:t>
            </a:r>
          </a:p>
          <a:p>
            <a:r>
              <a:t>[S1:11] validation.txt 第 11 段：语义检索作为备选方向，尚未实施。</a:t>
            </a:r>
          </a:p>
          <a:p>
            <a:r>
              <a:t>代价：可能遗漏同义表述；无法对比两种方案准确率。</a:t>
            </a:r>
          </a:p>
          <a:p>
            <a:r>
              <a:t>[S1:11] validation.txt 第 11 段：当前方案可能遗漏同义表述；没有对比关键词搜索与语义搜索的准确率。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</a:t>
            </a:r>
          </a:p>
          <a:p>
            <a:r>
              <a:t>全篇主线：通过一个可验证的失物招领原型，界定在有限资源内解决了哪些核心问题，以及必须搁置的开放问题。</a:t>
            </a:r>
          </a:p>
          <a:p>
            <a:r>
              <a:t>本页作用：解释方法选择与代价</a:t>
            </a:r>
          </a:p>
          <a:p>
            <a:r>
              <a:t>建议用时：71 秒（需实际排练校准）</a:t>
            </a:r>
          </a:p>
          <a:p>
            <a:r>
              <a:t>衔接：带着这个取舍，我们看看具体验证结果。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展示我们如何验证原型的基本功能。我们在本地构造了12条物品记录，手动检查了三个维度：发布后列表页是否可见、关键词检索是否匹配、状态标签是否正确。大家从表格可以看到，所有记录都通过了手动观察，但必须强调的是，这只是一个快速的冒烟检查，不是自动化测试，也没有覆盖率数据。所以这些结果只能说明基本通路走通，不能代表工程质量。接下来我简要说明哪些功能我们明确没有验证，以及对应的风险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本地构造12条物品记录，涵盖3种类别</a:t>
            </a:r>
          </a:p>
          <a:p>
            <a:r>
              <a:t>[S1:15] validation.txt 第 15 段：在本地构造12条物品记录，用于检查发布后可见、关键词检索和状态展示。</a:t>
            </a:r>
          </a:p>
          <a:p>
            <a:r>
              <a:t>检查了发布后可见、关键词检索和状态展示</a:t>
            </a:r>
          </a:p>
          <a:p>
            <a:r>
              <a:t>[S1:16] validation.txt 第 16 段：本地案例检查了输入记录能否保存、查询结果能否显示、状态标签是否与测试数据对应。</a:t>
            </a:r>
          </a:p>
          <a:p>
            <a:r>
              <a:t>仅有手动观察，非自动化测试，无覆盖率数据</a:t>
            </a:r>
          </a:p>
          <a:p>
            <a:r>
              <a:t>[S1:16] validation.txt 第 16 段：材料没有逐条通过率、覆盖率、请求耗时或错误率，不能把12条记录写成12项全部通过的自动测试。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</a:t>
            </a:r>
          </a:p>
          <a:p>
            <a:r>
              <a:t>全篇主线：通过一个可验证的失物招领原型，界定在有限资源内解决了哪些核心问题，以及必须搁置的开放问题。</a:t>
            </a:r>
          </a:p>
          <a:p>
            <a:r>
              <a:t>本页作用：展示原型功能验证结果，支撑方法取舍后的实际产出</a:t>
            </a:r>
          </a:p>
          <a:p>
            <a:r>
              <a:t>建议用时：70 秒（需实际排练校准）</a:t>
            </a:r>
          </a:p>
          <a:p>
            <a:r>
              <a:t>衔接：接下来我们来看这些验证之外，还有哪些明确未覆盖的领域。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我们坦诚地列出当前原型没有验证的部分，包括异常输入、并发冲突和隐私流程，以及已知的如状态更新滞后等风险。这些风险目前都没有真实发生频率或损失数据，所以后续工作可以优先从这些缺口入手。这为接下来介绍我的个人贡献做了铺垫——我的工作集中在已实现且已验证的功能上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异常输入、并发更新冲突、隐私流程均未测试</a:t>
            </a:r>
          </a:p>
          <a:p>
            <a:r>
              <a:t>[S1:17] validation.txt 第 17 段：超长输入、特殊字符和异常网络情况仍需补充测试。</a:t>
            </a:r>
          </a:p>
          <a:p>
            <a:r>
              <a:t>状态更新滞后与重复记录是已知风险 — 待补充依据</a:t>
            </a:r>
          </a:p>
          <a:p>
            <a:r>
              <a:t>所有风险未提供发生频率或损失数据</a:t>
            </a:r>
          </a:p>
          <a:p>
            <a:r>
              <a:t>[S1:20] validation.txt 第 20 段：没有这些风险的真实发生频率或损失数据。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</a:t>
            </a:r>
          </a:p>
          <a:p>
            <a:r>
              <a:t>全篇主线：通过一个可验证的失物招领原型，界定在有限资源内解决了哪些核心问题，以及必须搁置的开放问题。</a:t>
            </a:r>
          </a:p>
          <a:p>
            <a:r>
              <a:t>本页作用：明确原型局限，为后续讨论奠定认知基础</a:t>
            </a:r>
          </a:p>
          <a:p>
            <a:r>
              <a:t>建议用时：70 秒（需实际排练校准）</a:t>
            </a:r>
          </a:p>
          <a:p>
            <a:r>
              <a:t>衔接：了解了目前的边界，接下来我具体介绍一下哪些部分是我的个人贡献。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部分展示我在项目中的具体工作边界。左边列出了我的直接产出：页面功能、两个API接口、本地测试数据。右边补充技术选型和当前状态的说明——单实例原型，没有性能数据。我的贡献严格局限在已验证的这部分，自动化测试和并发能力都不在本轮范围内。接下来我们讨论一个关键的开放问题：下一步应该优先自动化核验还是优化搜索？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完成页面开发、发布和搜索接口、本地数据准备</a:t>
            </a:r>
          </a:p>
          <a:p>
            <a:r>
              <a:t>[S1:14] validation.txt 第 14 段：场景设定中的开发者完成页面开发、发布和搜索接口、本地数据准备及基本功能测试。</a:t>
            </a:r>
          </a:p>
          <a:p>
            <a:r>
              <a:t>执行了基本功能测试，未涵盖自动化和性能测试 — AI 推断，需核对</a:t>
            </a:r>
          </a:p>
          <a:p>
            <a:r>
              <a:t>无团队规模、工时或开发周期数据</a:t>
            </a:r>
          </a:p>
          <a:p>
            <a:r>
              <a:t>[S1:14] validation.txt 第 14 段：没有团队规模、工时或开发周期数据，不得补造人力投入与完成期限。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</a:t>
            </a:r>
          </a:p>
          <a:p>
            <a:r>
              <a:t>全篇主线：通过一个可验证的失物招领原型，界定在有限资源内解决了哪些核心问题，以及必须搁置的开放问题。</a:t>
            </a:r>
          </a:p>
          <a:p>
            <a:r>
              <a:t>本页作用：界定个人工作范围，支撑贡献与责任评估</a:t>
            </a:r>
          </a:p>
          <a:p>
            <a:r>
              <a:t>建议用时：70 秒（需实际排练校准）</a:t>
            </a:r>
          </a:p>
          <a:p>
            <a:r>
              <a:t>衔接：以上是我个人的产出，接下来我们讨论一个关键的开放问题：下一步应该优先自动化核验还是优化搜索？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刚才我们看了个人贡献的具体实现，现在进入最后讨论环节。左侧是已经验证的部分：原型确实跑通了统一发布、检索和状态展示的完整流程，但代价也很清楚——所有身份核验依赖人工。右侧是两个我们故意搁置的开放问题：自动核验身份能不能从源头上减少重复发布和恶意操作？以及，如果不动匹配逻辑，只优化关键词搜索，召回率能提升多少？目前我们用问号表示优先级待定，希望听听各位老师的看法——在有限资源下，您觉得应该先推自动化核验，还是先优化搜索？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原型证明统一入口可减少信息碎片</a:t>
            </a:r>
          </a:p>
          <a:p>
            <a:r>
              <a:t>[S1:23] validation.txt 第 23 段：原型已连接发布、检索和状态展示的基本流程，本地虚构数据可用于演示。</a:t>
            </a:r>
          </a:p>
          <a:p>
            <a:r>
              <a:t>身份核验和防重复仍依赖人工</a:t>
            </a:r>
          </a:p>
          <a:p>
            <a:r>
              <a:t>[S1:12] validation.txt 第 12 段：人工核验后再更新状态；重复发布通过人工发现和处理。</a:t>
            </a:r>
          </a:p>
          <a:p>
            <a:r>
              <a:t>优先方向待定：自动核验身份 vs 提升搜索召回率 — 待补充依据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</a:t>
            </a:r>
          </a:p>
          <a:p>
            <a:r>
              <a:t>全篇主线：通过一个可验证的失物招领原型，界定在有限资源内解决了哪些核心问题，以及必须搁置的开放问题。</a:t>
            </a:r>
          </a:p>
          <a:p>
            <a:r>
              <a:t>本页作用：引导评审参与讨论，明确下一步优先级</a:t>
            </a:r>
          </a:p>
          <a:p>
            <a:r>
              <a:t>建议用时：70 秒（需实际排练校准）</a:t>
            </a:r>
          </a:p>
          <a:p>
            <a:r>
              <a:t>衔接：最后，我将总结本次验收的关键结论，并提炼出依然开放的待验证问题。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总结一下我们做了什么：原型证明了统一记录入口能减少信息碎片，但必须坦诚——真实用户价值、性能和安全还没验证。下一步需要真实反馈和异常场景测试才能做决策。留下的问题是：您认为应优先投入身份核验自动化，还是搜索召回率优化？讨论环节期待大家意见。</a:t>
            </a:r>
          </a:p>
          <a:p/>
          <a:p>
            <a:r>
              <a:t>大纲要点来源（摘录匹配不代表结论已核验，正文编辑后请重新核对）：</a:t>
            </a:r>
          </a:p>
          <a:p>
            <a:r>
              <a:t>单一入口有效减少信息碎片，验证了基本流程</a:t>
            </a:r>
          </a:p>
          <a:p>
            <a:r>
              <a:t>[S1:23] validation.txt 第 23 段：原型已连接发布、检索和状态展示的基本流程，本地虚构数据可用于演示。</a:t>
            </a:r>
          </a:p>
          <a:p>
            <a:r>
              <a:t>真实用户价值、性能与安全性仍待验证</a:t>
            </a:r>
          </a:p>
          <a:p>
            <a:r>
              <a:t>[S1:23] validation.txt 第 23 段：真实用户价值、规模化性能及完整安全性仍待验证。</a:t>
            </a:r>
          </a:p>
          <a:p>
            <a:r>
              <a:t>未来需真实反馈与异常测试才能推进决策</a:t>
            </a:r>
          </a:p>
          <a:p>
            <a:r>
              <a:t>[S1:23] validation.txt 第 23 段：进一步决策需要真实使用反馈与异常场景测试结果。</a:t>
            </a:r>
          </a:p>
          <a:p/>
          <a:p>
            <a:r>
              <a:t>讲述提示（设计建议，不是事实来源）：</a:t>
            </a:r>
          </a:p>
          <a:p>
            <a:r>
              <a:t>听众：项目评审老师</a:t>
            </a:r>
          </a:p>
          <a:p>
            <a:r>
              <a:t>全篇主线：通过一个可验证的失物招领原型，界定在有限资源内解决了哪些核心问题，以及必须搁置的开放问题。</a:t>
            </a:r>
          </a:p>
          <a:p>
            <a:r>
              <a:t>本页作用：总结成果与局限，推动后续决策</a:t>
            </a:r>
          </a:p>
          <a:p>
            <a:r>
              <a:t>建议用时：70 秒（需实际排练校准）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1896476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开场：问题根源与一个确切问题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2820305"/>
            <a:ext cx="10871200" cy="144743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失物消息散落在多个群聊，历史需逐条翻阅，旧信息被反复转发。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相同物品可能重复发布，已认领仍继续传播。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原型只回答：能否用统一记录入口减少信息碎片？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议程：问题·方法·证据·局限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0400" y="1355628"/>
            <a:ext cx="2011680" cy="3817844"/>
          </a:xfrm>
          <a:prstGeom prst="roundRect">
            <a:avLst>
              <a:gd name="adj" fmla="val 505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12800" y="1508028"/>
            <a:ext cx="1706880" cy="35130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🔍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① 问题根源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信息碎片化与重复发布，源于缺失统一入口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75280" y="1355628"/>
            <a:ext cx="2011680" cy="3817844"/>
          </a:xfrm>
          <a:prstGeom prst="roundRect">
            <a:avLst>
              <a:gd name="adj" fmla="val 505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27680" y="1508028"/>
            <a:ext cx="1706880" cy="35130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🧩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② 认识与缺口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统一入口思路明确，但智能识别与跨平台整合尚未解决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90160" y="1355628"/>
            <a:ext cx="2011680" cy="3817844"/>
          </a:xfrm>
          <a:prstGeom prst="roundRect">
            <a:avLst>
              <a:gd name="adj" fmla="val 505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42560" y="1508028"/>
            <a:ext cx="1706880" cy="35130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⚙️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③ 方法与取舍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选择关键词检索而非图像匹配，12条记录测试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05040" y="1355628"/>
            <a:ext cx="2011680" cy="3817844"/>
          </a:xfrm>
          <a:prstGeom prst="roundRect">
            <a:avLst>
              <a:gd name="adj" fmla="val 505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57440" y="1508028"/>
            <a:ext cx="1706880" cy="35130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✅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④ 验证与证据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原型通过发布、可见、检索、状态更新验收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519920" y="1355628"/>
            <a:ext cx="2011680" cy="3817844"/>
          </a:xfrm>
          <a:prstGeom prst="roundRect">
            <a:avLst>
              <a:gd name="adj" fmla="val 5050"/>
            </a:avLst>
          </a:prstGeom>
          <a:solidFill>
            <a:srgbClr val="F3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72320" y="1508028"/>
            <a:ext cx="1706880" cy="35130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45000"/>
              </a:lnSpc>
            </a:pPr>
            <a:r>
              <a:rPr sz="1900" b="1" i="0">
                <a:solidFill>
                  <a:srgbClr val="344358"/>
                </a:solidFill>
                <a:latin typeface="Segoe UI Emoji"/>
                <a:ea typeface="Segoe UI Emoji"/>
                <a:cs typeface="Segoe UI Emoji"/>
              </a:rPr>
              <a:t>🔄</a:t>
            </a:r>
            <a:r>
              <a:rPr sz="1900" b="1" i="0">
                <a:solidFill>
                  <a:srgbClr val="344358"/>
                </a:solidFill>
                <a:latin typeface="Arial"/>
                <a:ea typeface="微软雅黑"/>
              </a:rPr>
              <a:t> ⑤ 边界与开放问题</a:t>
            </a:r>
          </a:p>
          <a:p>
            <a:pPr>
              <a:lnSpc>
                <a:spcPct val="165000"/>
              </a:lnSpc>
              <a:spcBef>
                <a:spcPts val="600"/>
              </a:spcBef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未实现身份核验、跨校区推荐，性能未测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1666698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研究问题：信息碎片与重复发布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2488926"/>
            <a:ext cx="5334000" cy="12767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群聊中消息散落，历史需逐条翻阅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同一物品重复发布，已认领仍被转发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97600" y="2488926"/>
            <a:ext cx="5334000" cy="127674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构建统一的发布、浏览、检索和认领状态入口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未实现：图片相似度检索、智能身份识别、支付、实时聊天、跨校区推荐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0400" y="3968872"/>
            <a:ext cx="10871200" cy="609600"/>
          </a:xfrm>
          <a:prstGeom prst="roundRect">
            <a:avLst>
              <a:gd name="adj" fmla="val 16666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4083172"/>
            <a:ext cx="10566400" cy="3810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当前材料未测量查找所需时间，亦无搜索成功率数据。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9532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已有认识与缺口：统一入口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431925"/>
            <a:ext cx="4034536" cy="233383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核心路径：发布 → 分类/关键词搜索 → 详情核实 → 线下认领 → 状态更新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覆盖范围：统一发布入口、检索与状态展示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未实现：图片相似度检索、智能身份识别、支付、实时聊天、跨校区推荐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4095958"/>
            <a:ext cx="3678936" cy="758721"/>
          </a:xfrm>
          <a:prstGeom prst="rect">
            <a:avLst/>
          </a:prstGeom>
          <a:noFill/>
        </p:spPr>
        <p:txBody>
          <a:bodyPr wrap="square" anchor="t" lIns="0" rIns="0" tIns="0" bIns="0">
            <a:normAutofit fontScale="75000" lnSpcReduction="10000"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1D4ED8"/>
                </a:solidFill>
                <a:latin typeface="Arial"/>
                <a:ea typeface="微软雅黑"/>
              </a:rPr>
              <a:t>5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32033"/>
                </a:solidFill>
                <a:latin typeface="Arial"/>
                <a:ea typeface="微软雅黑"/>
              </a:rPr>
              <a:t>已实现的关键步骤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59687B"/>
                </a:solidFill>
                <a:latin typeface="Arial"/>
                <a:ea typeface="微软雅黑"/>
              </a:rPr>
              <a:t>发布→搜索→核实→认领→更新，来源：S1:4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5362679"/>
            <a:ext cx="3678936" cy="758721"/>
          </a:xfrm>
          <a:prstGeom prst="rect">
            <a:avLst/>
          </a:prstGeom>
          <a:noFill/>
        </p:spPr>
        <p:txBody>
          <a:bodyPr wrap="square" anchor="t" lIns="0" rIns="0" tIns="0" bIns="0">
            <a:normAutofit fontScale="75000" lnSpcReduction="10000"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1D4ED8"/>
                </a:solidFill>
                <a:latin typeface="Arial"/>
                <a:ea typeface="微软雅黑"/>
              </a:rPr>
              <a:t>5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32033"/>
                </a:solidFill>
                <a:latin typeface="Arial"/>
                <a:ea typeface="微软雅黑"/>
              </a:rPr>
              <a:t>未实现的模块/功能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59687B"/>
                </a:solidFill>
                <a:latin typeface="Arial"/>
                <a:ea typeface="微软雅黑"/>
              </a:rPr>
              <a:t>图片检索、智能身份、支付、聊天、跨校区推荐，来源：S1:4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948936" y="1431925"/>
          <a:ext cx="6582664" cy="486727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194221"/>
                <a:gridCol w="2194221"/>
                <a:gridCol w="2194222"/>
              </a:tblGrid>
              <a:tr h="973455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功能域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已实现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未实现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7345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信息发布与分类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文字描述、类别、地点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无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7345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检索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关键词 + 分类筛选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图片相似度检索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7345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认领与状态管理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线下核验后更新状态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智能身份识别、支付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973455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扩展功能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无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实时聊天、跨校区推荐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方法取舍：为什么选关键词检索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661416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关键词匹配，便于解释结果和定位问题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舍弃语义检索，减少对图片与语义服务的依赖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77760" y="1355628"/>
            <a:ext cx="4053840" cy="3817844"/>
          </a:xfrm>
          <a:prstGeom prst="roundRect">
            <a:avLst>
              <a:gd name="adj" fmla="val 2661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30160" y="1469928"/>
            <a:ext cx="3749040" cy="35892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代价：可能遗漏同义表述；无法对比两种方案准确率。身份核验仍依赖人工判断。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验证证据：12条记录的验收场景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60400" y="1355628"/>
          <a:ext cx="10871200" cy="2805395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2717800"/>
                <a:gridCol w="2717800"/>
                <a:gridCol w="2717800"/>
                <a:gridCol w="2717800"/>
              </a:tblGrid>
              <a:tr h="701348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测试维度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测试内容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测试结果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132033"/>
                          </a:solidFill>
                          <a:latin typeface="Arial"/>
                          <a:ea typeface="微软雅黑"/>
                        </a:rPr>
                        <a:t>局限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9050" cap="flat">
                      <a:solidFill>
                        <a:srgbClr val="1D4ED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134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发布可见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输入物品记录后，在列表页可见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12条记录全部可见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仅手动观察，无自动化断言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1348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关键词检索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按“证件”“电子”“日用品”搜索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匹配到对应类别记录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未测试模糊查询、拼写容错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1351"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状态展示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待认领/已认领标签显示正确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8条待认领，4条已认领，标签无误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344358"/>
                          </a:solidFill>
                          <a:latin typeface="Arial"/>
                          <a:ea typeface="微软雅黑"/>
                        </a:rPr>
                        <a:t>仅验证显示，未校验状态转换逻辑</a:t>
                      </a:r>
                    </a:p>
                  </a:txBody>
                  <a:tcPr marL="152400" marR="152400" marT="114300" marB="1143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>
                      <a:solidFill>
                        <a:srgbClr val="DDE4EE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60400" y="4364223"/>
            <a:ext cx="10871200" cy="809249"/>
          </a:xfrm>
          <a:prstGeom prst="roundRect">
            <a:avLst>
              <a:gd name="adj" fmla="val 12554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12800" y="4478523"/>
            <a:ext cx="10566400" cy="58064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本次验收为手动功能观察，非自动化测试，无覆盖率数据。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5334000" cy="1238057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边界：不验证的部分与风险清单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974657"/>
            <a:ext cx="5334000" cy="319881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未测试：异常输入（超长、特殊字符）、并发更新冲突、隐私流程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已知风险：状态更新滞后、重复记录需人工处理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75400" y="711200"/>
            <a:ext cx="4978400" cy="541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1D4ED8"/>
                </a:solidFill>
                <a:latin typeface="Arial"/>
                <a:ea typeface="微软雅黑"/>
              </a:rPr>
              <a:t>—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32033"/>
                </a:solidFill>
                <a:latin typeface="Arial"/>
                <a:ea typeface="微软雅黑"/>
              </a:rPr>
              <a:t>风险发生频率或损失数据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59687B"/>
                </a:solidFill>
                <a:latin typeface="Arial"/>
                <a:ea typeface="微软雅黑"/>
              </a:rPr>
              <a:t>暂无实际数据，待后续收集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384040" y="533400"/>
            <a:ext cx="714756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个人贡献：页面开发与接口集成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533400"/>
            <a:ext cx="3520440" cy="576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完成页面开发、发布和搜索接口、本地数据准备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执行了基本功能测试，未涵盖自动化和性能测试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无团队规模、工时或开发周期数据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4040" y="1304828"/>
            <a:ext cx="7147560" cy="39194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技术结构：前端使用React处理表单和列表交互，后端使用FastAPI提供接口，PostgreSQL存储记录。当前为单实例原型，尚未进行负载测试，不声称具备高并发性能。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701675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讨论：优先自动化核验还是优化搜索？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87475"/>
            <a:ext cx="5334000" cy="68117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已验证：统一入口减少信息碎片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0400" y="2195654"/>
            <a:ext cx="5334000" cy="215652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原型连接发布、检索、状态展示基础流程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本地虚构数据可演示，减少对图片与语义服务依赖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代价：用户需自行选择关键词，身份核验依赖人工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0400" y="4479177"/>
            <a:ext cx="5334000" cy="908239"/>
          </a:xfrm>
          <a:prstGeom prst="roundRect">
            <a:avLst>
              <a:gd name="adj" fmla="val 11186"/>
            </a:avLst>
          </a:prstGeom>
          <a:solidFill>
            <a:srgbClr val="D6D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2800" y="4593477"/>
            <a:ext cx="5029200" cy="679639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真实用户价值、规模化性能、完整安全性仍待验证。进一步决策需真实使用反馈与异常场景测试结果。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97600" y="1387475"/>
            <a:ext cx="5334000" cy="464803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65000"/>
              </a:lnSpc>
            </a:pPr>
            <a:r>
              <a:rPr sz="1500" b="0" i="0">
                <a:solidFill>
                  <a:srgbClr val="344358"/>
                </a:solidFill>
                <a:latin typeface="Arial"/>
                <a:ea typeface="微软雅黑"/>
              </a:rPr>
              <a:t>尚未验证：两个开放问题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7600" y="1979278"/>
            <a:ext cx="5334000" cy="129797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自动核验身份：能否减少重复发布与恶意认领？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优化搜索召回率：在现有关键词基础上，如何提升匹配准确度？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5400" y="3582056"/>
            <a:ext cx="4978400" cy="16275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10000"/>
              </a:lnSpc>
            </a:pPr>
            <a:r>
              <a:rPr sz="4600" b="0" i="0">
                <a:solidFill>
                  <a:srgbClr val="1D4ED8"/>
                </a:solidFill>
                <a:latin typeface="Arial"/>
                <a:ea typeface="微软雅黑"/>
              </a:rPr>
              <a:t>“?”</a:t>
            </a:r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sz="1400" b="1" i="0">
                <a:solidFill>
                  <a:srgbClr val="132033"/>
                </a:solidFill>
                <a:latin typeface="Arial"/>
                <a:ea typeface="微软雅黑"/>
              </a:rPr>
              <a:t>优先级待定</a:t>
            </a:r>
          </a:p>
          <a:p>
            <a:pPr>
              <a:lnSpc>
                <a:spcPct val="150000"/>
              </a:lnSpc>
              <a:spcBef>
                <a:spcPts val="600"/>
              </a:spcBef>
            </a:pPr>
            <a:r>
              <a:rPr sz="1200" b="0" i="0">
                <a:solidFill>
                  <a:srgbClr val="59687B"/>
                </a:solidFill>
                <a:latin typeface="Arial"/>
                <a:ea typeface="微软雅黑"/>
              </a:rPr>
              <a:t>人工核验仍是当前状态更新的唯一可靠方式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ambient-rect"/>
          <p:cNvSpPr/>
          <p:nvPr/>
        </p:nvSpPr>
        <p:spPr>
          <a:xfrm>
            <a:off x="0" y="0"/>
            <a:ext cx="1706880" cy="381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60400" y="533400"/>
            <a:ext cx="10871200" cy="6190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>
              <a:lnSpc>
                <a:spcPct val="128000"/>
              </a:lnSpc>
            </a:pPr>
            <a:r>
              <a:rPr sz="3400" b="0" i="0">
                <a:solidFill>
                  <a:srgbClr val="132033"/>
                </a:solidFill>
                <a:latin typeface="Arial"/>
                <a:ea typeface="微软雅黑"/>
              </a:rPr>
              <a:t>结论与开放问题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0400" y="1355628"/>
            <a:ext cx="10871200" cy="381784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marL="228600" indent="-228600">
              <a:lnSpc>
                <a:spcPct val="162000"/>
              </a:lnSpc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原型验证了单一入口可减少信息碎片，发布、检索与状态展示流程连贯。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真实用户价值、规模化性能及安全性仍待验证，需真实反馈与异常测试。</a:t>
            </a:r>
          </a:p>
          <a:p>
            <a:pPr marL="228600" indent="-228600">
              <a:lnSpc>
                <a:spcPct val="162000"/>
              </a:lnSpc>
              <a:spcBef>
                <a:spcPts val="1200"/>
              </a:spcBef>
              <a:buClr>
                <a:srgbClr val="1D4ED8"/>
              </a:buClr>
              <a:buFont typeface="Arial"/>
              <a:buChar char="—"/>
            </a:pPr>
            <a:r>
              <a:rPr sz="1600" b="0" i="0">
                <a:solidFill>
                  <a:srgbClr val="344358"/>
                </a:solidFill>
                <a:latin typeface="Arial"/>
                <a:ea typeface="微软雅黑"/>
              </a:rPr>
              <a:t>后续可记录用户是否找到目标记录、是否理解状态标签及任务时长——尚无基线数据。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