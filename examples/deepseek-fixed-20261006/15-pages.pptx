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位评审老师，这一页我们从真实场景出发：学生在多个群聊里发布失物和招领信息，历史消息翻起来很费力，同一个物品可能被多次重复发布，而已经认领的物品还会继续被转发。这些就是我们要解决的效率堵点。注意，目前我们还没有手头数据来精确测量查找所花费的时间，接下来的讨论都基于这个界定清晰的问题。</a:t>
            </a:r>
          </a:p>
          <a:p/>
          <a:p>
            <a:r>
              <a:t>大纲要点来源（摘录匹配不代表结论已核验，正文编辑后请重新核对）：</a:t>
            </a:r>
          </a:p>
          <a:p>
            <a:r>
              <a:t>校园失物信息分散在多个群聊，历史消息需要逐条翻阅</a:t>
            </a:r>
          </a:p>
          <a:p>
            <a:r>
              <a:t>[S1:3] validation.txt 第 3 段：学生在不同群聊发布失物和招领消息，历史消息需要逐条翻阅</a:t>
            </a:r>
          </a:p>
          <a:p>
            <a:r>
              <a:t>相同物品可能重复发布，消息缺少统一分类，已认领物品仍可能被继续转发</a:t>
            </a:r>
          </a:p>
          <a:p>
            <a:r>
              <a:t>[S1:3] validation.txt 第 3 段：相同物品可能重复发布，消息缺少统一分类，已经认领的物品仍可能被继续转发</a:t>
            </a:r>
          </a:p>
          <a:p>
            <a:r>
              <a:t>当前材料没有测量查找所需时间</a:t>
            </a:r>
          </a:p>
          <a:p>
            <a:r>
              <a:t>[S1:3] validation.txt 第 3 段：当前材料没有测量查找所需时间</a:t>
            </a:r>
          </a:p>
          <a:p>
            <a:r>
              <a:t>材料为人工构造的验收场景，所有数值不得用于推断真实业务成绩</a:t>
            </a:r>
          </a:p>
          <a:p>
            <a:r>
              <a:t>[S1:2] validation.txt 第 2 段：所有数值只用于验证PPT生成，不得推断真实用户、效率提升、商业收益或上线日期</a:t>
            </a:r>
          </a:p>
          <a:p/>
          <a:p>
            <a:r>
              <a:t>讲述提示（设计建议，不是事实来源）：</a:t>
            </a:r>
          </a:p>
          <a:p>
            <a:r>
              <a:t>听众：项目评审老师，熟悉学术验收标准，关注问题定义、方法取舍、证据可靠性与局限边界。</a:t>
            </a:r>
          </a:p>
          <a:p>
            <a:r>
              <a:t>全篇主线：从明确问题出发，展示个人在原型构建中的关键取舍与验证证据，坦诚面对尚未验证的边界。</a:t>
            </a:r>
          </a:p>
          <a:p>
            <a:r>
              <a:t>本页作用：开篇定义研究问题：用分散、重复、状态滞后三个现象锚定后续讨论</a:t>
            </a:r>
          </a:p>
          <a:p>
            <a:r>
              <a:t>建议用时：32 秒（需实际排练校准）</a:t>
            </a:r>
          </a:p>
          <a:p>
            <a:r>
              <a:t>衔接：问题已经明确：这些堵点背后，已有做法留下了什么缺口？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前面我们明确了分散、重复和状态滞后的问题，现在需要审视已有方案的弱点。群聊虽然方便，但缺少统一索引；关键词搜索的结果可解释，但可能遗漏同义表述。更重要的是，状态同步依赖人工核验，并发更新和恶意认领的防护尚未测试。这意味着，即使功能可以运行，搜索与状态同步的可靠性仍缺少可追溯的验证证据。这为下一批原型定义了必须解决的目标。</a:t>
            </a:r>
          </a:p>
          <a:p/>
          <a:p>
            <a:r>
              <a:t>大纲要点来源（摘录匹配不代表结论已核验，正文编辑后请重新核对）：</a:t>
            </a:r>
          </a:p>
          <a:p>
            <a:r>
              <a:t>群聊历史消息逐条翻阅、缺少统一分类，重复发布和已认领转发并存</a:t>
            </a:r>
          </a:p>
          <a:p>
            <a:r>
              <a:t>[S1:3] validation.txt 第 3 段：学生在不同群聊发布失物和招领消息，历史消息需要逐条翻阅</a:t>
            </a:r>
          </a:p>
          <a:p>
            <a:r>
              <a:t>关键词匹配可能遗漏同义表述，且没有与语义搜索的准确率对比</a:t>
            </a:r>
          </a:p>
          <a:p>
            <a:r>
              <a:t>[S1:11] validation.txt 第 11 段：当前方案可能遗漏同义表述；没有对比关键词搜索与语义搜索的准确率</a:t>
            </a:r>
          </a:p>
          <a:p>
            <a:r>
              <a:t>状态处理依赖人工核验，并发更新冲突、误操作恢复和恶意认领防护尚未验证</a:t>
            </a:r>
          </a:p>
          <a:p>
            <a:r>
              <a:t>[S1:12] validation.txt 第 12 段：尚未验证并发更新冲突、误操作恢复和恶意认领防护</a:t>
            </a:r>
          </a:p>
          <a:p>
            <a:r>
              <a:t>上述缺口意味着搜索与状态同步的可靠性缺少可追溯的验证证据 — AI 推断，需核对</a:t>
            </a:r>
          </a:p>
          <a:p/>
          <a:p>
            <a:r>
              <a:t>讲述提示（设计建议，不是事实来源）：</a:t>
            </a:r>
          </a:p>
          <a:p>
            <a:r>
              <a:t>听众：项目评审老师，熟悉学术验收标准，关注问题定义、方法取舍、证据可靠性与局限边界。</a:t>
            </a:r>
          </a:p>
          <a:p>
            <a:r>
              <a:t>全篇主线：从明确问题出发，展示个人在原型构建中的关键取舍与验证证据，坦诚面对尚未验证的边界。</a:t>
            </a:r>
          </a:p>
          <a:p>
            <a:r>
              <a:t>本页作用：梳理已有认识与缺口，把问题从现象推进到可靠性验证不足</a:t>
            </a:r>
          </a:p>
          <a:p>
            <a:r>
              <a:t>建议用时：62 秒（需实际排练校准）</a:t>
            </a:r>
          </a:p>
          <a:p>
            <a:r>
              <a:t>衔接：缺口说明需要一个明确的目标与边界，下一批定义原型做什么、不做什么。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我们把范围划清楚。左边是原型覆盖的四维信息和用户路径，右边是明确砍掉的功能——图片搜索、身份识别、支付、聊天，这些都不在本次原型内。关键边界是：搜索只能帮你找到候选物品，确认归属还得线下人工核验。这个取舍是为了控制构建复杂度，留下未来扩展的空间。</a:t>
            </a:r>
          </a:p>
          <a:p/>
          <a:p>
            <a:r>
              <a:t>大纲要点来源（摘录匹配不代表结论已核验，正文编辑后请重新核对）：</a:t>
            </a:r>
          </a:p>
          <a:p>
            <a:r>
              <a:t>统一发布、浏览、检索和认领状态入口，是原型要解决的核心范围</a:t>
            </a:r>
          </a:p>
          <a:p>
            <a:r>
              <a:t>[S1:4] validation.txt 第 4 段：构建统一的发布、浏览、检索和认领状态入口</a:t>
            </a:r>
          </a:p>
          <a:p>
            <a:r>
              <a:t>原型包含文字描述、物品类别、拾取地点、记录状态四类信息</a:t>
            </a:r>
          </a:p>
          <a:p>
            <a:r>
              <a:t>[S1:4] validation.txt 第 4 段：原型包含文字描述、物品类别、拾取地点、记录状态</a:t>
            </a:r>
          </a:p>
          <a:p>
            <a:r>
              <a:t>未实现图片相似度检索、智能身份识别、支付、实时聊天和跨校区推荐</a:t>
            </a:r>
          </a:p>
          <a:p>
            <a:r>
              <a:t>[S1:4] validation.txt 第 4 段：未实现图片相似度检索、智能身份识别、支付、实时聊天和跨校区推荐</a:t>
            </a:r>
          </a:p>
          <a:p>
            <a:r>
              <a:t>搜索命中不等于确认归属，系统不自动作出身份判断</a:t>
            </a:r>
          </a:p>
          <a:p>
            <a:r>
              <a:t>[S1:6] validation.txt 第 6 段：搜索命中不等于确认归属，系统不自动作出身份判断</a:t>
            </a:r>
          </a:p>
          <a:p/>
          <a:p>
            <a:r>
              <a:t>讲述提示（设计建议，不是事实来源）：</a:t>
            </a:r>
          </a:p>
          <a:p>
            <a:r>
              <a:t>听众：项目评审老师，熟悉学术验收标准，关注问题定义、方法取舍、证据可靠性与局限边界。</a:t>
            </a:r>
          </a:p>
          <a:p>
            <a:r>
              <a:t>全篇主线：从明确问题出发，展示个人在原型构建中的关键取舍与验证证据，坦诚面对尚未验证的边界。</a:t>
            </a:r>
          </a:p>
          <a:p>
            <a:r>
              <a:t>本页作用：界定目标与范围，明确核心入口和明确排除项</a:t>
            </a:r>
          </a:p>
          <a:p>
            <a:r>
              <a:t>建议用时：62 秒（需实际排练校准）</a:t>
            </a:r>
          </a:p>
          <a:p>
            <a:r>
              <a:t>衔接：范围的另一端是人：这套入口为哪些角色服务，又建立在什么假设上？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接下来我们换个角度：看用户角色和场景假设。这里列出失主、拾获者、管理员各自的任务，同时右侧是风险清单——比如角色描述不完整、状态更新不及时。请留意，这些角色都来自我们的场景设定，还没有经过用户访谈验证；风险清单也没有实际的发生频率数据。所以这一页相当于一个假设集合，后续需要靠调研来确认或修正。</a:t>
            </a:r>
          </a:p>
          <a:p/>
          <a:p>
            <a:r>
              <a:t>大纲要点来源（摘录匹配不代表结论已核验，正文编辑后请重新核对）：</a:t>
            </a:r>
          </a:p>
          <a:p>
            <a:r>
              <a:t>失主需找到候选物品并核实详情，拾获者发布线索和更新状态，管理员处理重复或不当记录</a:t>
            </a:r>
          </a:p>
          <a:p>
            <a:r>
              <a:t>[S1:5] validation.txt 第 5 段：失主需要找到候选物品并核实详情；拾获者需要发布线索和更新状态；管理员需要处理重复或不当记录</a:t>
            </a:r>
          </a:p>
          <a:p>
            <a:r>
              <a:t>这些角色来自场景设定，尚未通过用户访谈验证</a:t>
            </a:r>
          </a:p>
          <a:p>
            <a:r>
              <a:t>[S1:5] validation.txt 第 5 段：上述角色来自场景设定，尚未通过用户访谈验证</a:t>
            </a:r>
          </a:p>
          <a:p>
            <a:r>
              <a:t>角色假设对应的风险包括描述不完整、称呼不一致、状态更新不及时和重复记录影响判断</a:t>
            </a:r>
          </a:p>
          <a:p>
            <a:r>
              <a:t>[S1:20] validation.txt 第 20 段：描述可能不完整；用户可能使用不同称呼；状态可能更新不及时；重复记录可能影响判断</a:t>
            </a:r>
          </a:p>
          <a:p>
            <a:r>
              <a:t>人工认领核验可能发生误判，且没有风险发生频率或损失数据</a:t>
            </a:r>
          </a:p>
          <a:p>
            <a:r>
              <a:t>[S1:20] validation.txt 第 20 段：人工认领核验可能发生误判。没有这些风险的真实发生频率或损失数据</a:t>
            </a:r>
          </a:p>
          <a:p/>
          <a:p>
            <a:r>
              <a:t>讲述提示（设计建议，不是事实来源）：</a:t>
            </a:r>
          </a:p>
          <a:p>
            <a:r>
              <a:t>听众：项目评审老师，熟悉学术验收标准，关注问题定义、方法取舍、证据可靠性与局限边界。</a:t>
            </a:r>
          </a:p>
          <a:p>
            <a:r>
              <a:t>全篇主线：从明确问题出发，展示个人在原型构建中的关键取舍与验证证据，坦诚面对尚未验证的边界。</a:t>
            </a:r>
          </a:p>
          <a:p>
            <a:r>
              <a:t>本页作用：引入用户角色与场景假设，并标注其验证状态</a:t>
            </a:r>
          </a:p>
          <a:p>
            <a:r>
              <a:t>建议用时：62 秒（需实际排练校准）</a:t>
            </a:r>
          </a:p>
          <a:p>
            <a:r>
              <a:t>衔接：角色假设要落到一条具体路径上：从发布到认领，系统在哪个环节交还判断权？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这一页展示完整的用户路径，从拾获者发布记录开始，到失主搜索、线下核验、最后更新状态。重点在于强调系统不自动判断归属，搜索命中只是候选，真实身份确认依赖人工线下环节，这是验证边界之一。</a:t>
            </a:r>
          </a:p>
          <a:p/>
          <a:p>
            <a:r>
              <a:t>大纲要点来源（摘录匹配不代表结论已核验，正文编辑后请重新核对）：</a:t>
            </a:r>
          </a:p>
          <a:p>
            <a:r>
              <a:t>拾获者填写描述与类别并保存记录</a:t>
            </a:r>
          </a:p>
          <a:p>
            <a:r>
              <a:t>[S1:6] validation.txt 第 6 段：拾获者填写描述与类别，保存记录</a:t>
            </a:r>
          </a:p>
          <a:p>
            <a:r>
              <a:t>失主通过关键词和分类筛选寻找候选物品，再由线下人工核验身份</a:t>
            </a:r>
          </a:p>
          <a:p>
            <a:r>
              <a:t>[S1:6] validation.txt 第 6 段：失主通过关键词和分类筛选寻找候选物品，再由线下人工核验身份</a:t>
            </a:r>
          </a:p>
          <a:p>
            <a:r>
              <a:t>确认后将状态更新为已认领</a:t>
            </a:r>
          </a:p>
          <a:p>
            <a:r>
              <a:t>[S1:6] validation.txt 第 6 段：确认后将状态更新为已认领</a:t>
            </a:r>
          </a:p>
          <a:p>
            <a:r>
              <a:t>搜索命中不等于确认归属，系统不自动作出身份判断</a:t>
            </a:r>
          </a:p>
          <a:p>
            <a:r>
              <a:t>[S1:6] validation.txt 第 6 段：搜索命中不等于确认归属，系统不自动作出身份判断</a:t>
            </a:r>
          </a:p>
          <a:p/>
          <a:p>
            <a:r>
              <a:t>讲述提示（设计建议，不是事实来源）：</a:t>
            </a:r>
          </a:p>
          <a:p>
            <a:r>
              <a:t>听众：项目评审老师，熟悉学术验收标准，关注问题定义、方法取舍、证据可靠性与局限边界。</a:t>
            </a:r>
          </a:p>
          <a:p>
            <a:r>
              <a:t>全篇主线：从明确问题出发，展示个人在原型构建中的关键取舍与验证证据，坦诚面对尚未验证的边界。</a:t>
            </a:r>
          </a:p>
          <a:p>
            <a:r>
              <a:t>本页作用：展示从发布到认领的用户路径，突出人工核验环节</a:t>
            </a:r>
          </a:p>
          <a:p>
            <a:r>
              <a:t>建议用时：62 秒（需实际排练校准）</a:t>
            </a:r>
          </a:p>
          <a:p>
            <a:r>
              <a:t>衔接：流程依赖关键词和状态标签，下一批先看界面结构如何承载这些信息。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我们澄清界面结构：列表展示摘要与状态标签，详情提供完整描述和地点。发布表单给出必填提示，操作有反馈。请注意，本页仅为示意，没有使用真实截图。接下来我们进入技术结构，说明接口如何支撑这些交互。</a:t>
            </a:r>
          </a:p>
          <a:p/>
          <a:p>
            <a:r>
              <a:t>大纲要点来源（摘录匹配不代表结论已核验，正文编辑后请重新核对）：</a:t>
            </a:r>
          </a:p>
          <a:p>
            <a:r>
              <a:t>列表页展示物品摘要、类别与状态标签</a:t>
            </a:r>
          </a:p>
          <a:p>
            <a:r>
              <a:t>[S1:7] validation.txt 第 7 段：列表展示描述摘要、类别与状态</a:t>
            </a:r>
          </a:p>
          <a:p>
            <a:r>
              <a:t>详情页显示完整描述与拾取地点</a:t>
            </a:r>
          </a:p>
          <a:p>
            <a:r>
              <a:t>[S1:7] validation.txt 第 7 段：详情显示完整描述和拾取地点</a:t>
            </a:r>
          </a:p>
          <a:p>
            <a:r>
              <a:t>发布表单对必填项提供提示</a:t>
            </a:r>
          </a:p>
          <a:p>
            <a:r>
              <a:t>[S1:7] validation.txt 第 7 段：发布表单对必填项给出提示</a:t>
            </a:r>
          </a:p>
          <a:p>
            <a:r>
              <a:t>状态操作给出结果反馈</a:t>
            </a:r>
          </a:p>
          <a:p>
            <a:r>
              <a:t>[S1:7] validation.txt 第 7 段：状态操作提供结果反馈</a:t>
            </a:r>
          </a:p>
          <a:p/>
          <a:p>
            <a:r>
              <a:t>讲述提示（设计建议，不是事实来源）：</a:t>
            </a:r>
          </a:p>
          <a:p>
            <a:r>
              <a:t>听众：项目评审老师，熟悉学术验收标准，关注问题定义、方法取舍、证据可靠性与局限边界。</a:t>
            </a:r>
          </a:p>
          <a:p>
            <a:r>
              <a:t>全篇主线：从明确问题出发，展示个人在原型构建中的关键取舍与验证证据，坦诚面对尚未验证的边界。</a:t>
            </a:r>
          </a:p>
          <a:p>
            <a:r>
              <a:t>本页作用：展示界面设计方案与功能呈现</a:t>
            </a:r>
          </a:p>
          <a:p>
            <a:r>
              <a:t>建议用时：62 秒（需实际排练校准）</a:t>
            </a:r>
          </a:p>
          <a:p>
            <a:r>
              <a:t>衔接：界面交互依赖前后端技术支持，接下来我们看技术结构。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本节展示原型的技术结构，重点在于说明技术选型如何支撑核心流程。前端使用 React 负责表单与列表交互，后端用 FastAPI 提供接口，PostgreSQL 存储失物记录。需要注意的是，当前整个系统是单实例原型，没有做负载测试，所以不声称具备高并发支撑能力。接下来的数据模型将解释字段设计如何配合关键词搜索。</a:t>
            </a:r>
          </a:p>
          <a:p/>
          <a:p>
            <a:r>
              <a:t>大纲要点来源（摘录匹配不代表结论已核验，正文编辑后请重新核对）：</a:t>
            </a:r>
          </a:p>
          <a:p>
            <a:r>
              <a:t>前端采用 React 处理表单和列表交互</a:t>
            </a:r>
          </a:p>
          <a:p>
            <a:r>
              <a:t>[S1:8] validation.txt 第 8 段：前端使用React处理表单和列表交互</a:t>
            </a:r>
          </a:p>
          <a:p>
            <a:r>
              <a:t>后端使用 FastAPI 提供接口</a:t>
            </a:r>
          </a:p>
          <a:p>
            <a:r>
              <a:t>[S1:8] validation.txt 第 8 段：后端使用FastAPI提供接口</a:t>
            </a:r>
          </a:p>
          <a:p>
            <a:r>
              <a:t>PostgreSQL 存储记录</a:t>
            </a:r>
          </a:p>
          <a:p>
            <a:r>
              <a:t>[S1:8] validation.txt 第 8 段：PostgreSQL存储记录</a:t>
            </a:r>
          </a:p>
          <a:p>
            <a:r>
              <a:t>当前为单实例原型，未进行负载测试</a:t>
            </a:r>
          </a:p>
          <a:p>
            <a:r>
              <a:t>[S1:8] validation.txt 第 8 段：当前为单实例原型，尚未进行负载测试</a:t>
            </a:r>
          </a:p>
          <a:p/>
          <a:p>
            <a:r>
              <a:t>讲述提示（设计建议，不是事实来源）：</a:t>
            </a:r>
          </a:p>
          <a:p>
            <a:r>
              <a:t>听众：项目评审老师，熟悉学术验收标准，关注问题定义、方法取舍、证据可靠性与局限边界。</a:t>
            </a:r>
          </a:p>
          <a:p>
            <a:r>
              <a:t>全篇主线：从明确问题出发，展示个人在原型构建中的关键取舍与验证证据，坦诚面对尚未验证的边界。</a:t>
            </a:r>
          </a:p>
          <a:p>
            <a:r>
              <a:t>本页作用：解释技术栈选择与部署阶段限制</a:t>
            </a:r>
          </a:p>
          <a:p>
            <a:r>
              <a:t>建议用时：62 秒（需实际排练校准）</a:t>
            </a:r>
          </a:p>
          <a:p>
            <a:r>
              <a:t>衔接：技术选型决定了数据存储结构，下面我们看数据模型。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跳转到数据模型，大家可以看到物品记录的字段集中在基本描述、受限类别和状态枚举。目前刻意没有引入向量数据库——因为我们希望通过关键词搜索加人工核验来验证核心流程，搜索策略的取舍后续会详细说明。</a:t>
            </a:r>
          </a:p>
          <a:p/>
          <a:p>
            <a:r>
              <a:t>大纲要点来源（摘录匹配不代表结论已核验，正文编辑后请重新核对）：</a:t>
            </a:r>
          </a:p>
          <a:p>
            <a:r>
              <a:t>物品记录包含 id、标题、描述、类别、地点、状态、创建与更新时间</a:t>
            </a:r>
          </a:p>
          <a:p>
            <a:r>
              <a:t>[S1:9] validation.txt 第 9 段：物品记录包含id、标题、描述、类别、地点、状态、创建时间与更新时间</a:t>
            </a:r>
          </a:p>
          <a:p>
            <a:r>
              <a:t>类别和状态为受约束字段</a:t>
            </a:r>
          </a:p>
          <a:p>
            <a:r>
              <a:t>[S1:9] validation.txt 第 9 段：类别和状态为受约束字段</a:t>
            </a:r>
          </a:p>
          <a:p>
            <a:r>
              <a:t>未引入向量数据库或外部检索服务</a:t>
            </a:r>
          </a:p>
          <a:p>
            <a:r>
              <a:t>[S1:9] validation.txt 第 9 段：当前没有引入向量数据库或外部检索服务</a:t>
            </a:r>
          </a:p>
          <a:p/>
          <a:p>
            <a:r>
              <a:t>讲述提示（设计建议，不是事实来源）：</a:t>
            </a:r>
          </a:p>
          <a:p>
            <a:r>
              <a:t>听众：项目评审老师，熟悉学术验收标准，关注问题定义、方法取舍、证据可靠性与局限边界。</a:t>
            </a:r>
          </a:p>
          <a:p>
            <a:r>
              <a:t>全篇主线：从明确问题出发，展示个人在原型构建中的关键取舍与验证证据，坦诚面对尚未验证的边界。</a:t>
            </a:r>
          </a:p>
          <a:p>
            <a:r>
              <a:t>本页作用：定义数据存储结构与限制</a:t>
            </a:r>
          </a:p>
          <a:p>
            <a:r>
              <a:t>建议用时：62 秒（需实际排练校准）</a:t>
            </a:r>
          </a:p>
          <a:p>
            <a:r>
              <a:t>衔接：数据模型支持多个接口操作，接下来我们看接口分工及其依据。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们来看接口分工：发布接口负责校验输入并写入记录，列表接口返回当前全部记录，搜索接口组合关键词与类别条件，更新接口负责修改认领状态。这种职责划分保证了每个接口的单一性与可测试性。需要注意的是，这里展示的是架构设计，具体URL和代码尚未实现，属于已规划但未验证的部分。</a:t>
            </a:r>
          </a:p>
          <a:p/>
          <a:p>
            <a:r>
              <a:t>大纲要点来源（摘录匹配不代表结论已核验，正文编辑后请重新核对）：</a:t>
            </a:r>
          </a:p>
          <a:p>
            <a:r>
              <a:t>发布接口检查输入并写入记录</a:t>
            </a:r>
          </a:p>
          <a:p>
            <a:r>
              <a:t>[S1:10] validation.txt 第 10 段：发布接口检查输入并写入记录</a:t>
            </a:r>
          </a:p>
          <a:p>
            <a:r>
              <a:t>列表接口返回当前记录</a:t>
            </a:r>
          </a:p>
          <a:p>
            <a:r>
              <a:t>[S1:10] validation.txt 第 10 段：列表接口返回当前记录</a:t>
            </a:r>
          </a:p>
          <a:p>
            <a:r>
              <a:t>搜索接口组合关键词与类别条件</a:t>
            </a:r>
          </a:p>
          <a:p>
            <a:r>
              <a:t>[S1:10] validation.txt 第 10 段：搜索接口组合关键词与类别条件</a:t>
            </a:r>
          </a:p>
          <a:p>
            <a:r>
              <a:t>更新接口修改认领状态</a:t>
            </a:r>
          </a:p>
          <a:p>
            <a:r>
              <a:t>[S1:10] validation.txt 第 10 段：更新接口修改认领状态</a:t>
            </a:r>
          </a:p>
          <a:p/>
          <a:p>
            <a:r>
              <a:t>讲述提示（设计建议，不是事实来源）：</a:t>
            </a:r>
          </a:p>
          <a:p>
            <a:r>
              <a:t>听众：项目评审老师，熟悉学术验收标准，关注问题定义、方法取舍、证据可靠性与局限边界。</a:t>
            </a:r>
          </a:p>
          <a:p>
            <a:r>
              <a:t>全篇主线：从明确问题出发，展示个人在原型构建中的关键取舍与验证证据，坦诚面对尚未验证的边界。</a:t>
            </a:r>
          </a:p>
          <a:p>
            <a:r>
              <a:t>本页作用：解释接口划分逻辑与验证范围</a:t>
            </a:r>
          </a:p>
          <a:p>
            <a:r>
              <a:t>建议用时：62 秒（需实际排练校准）</a:t>
            </a:r>
          </a:p>
          <a:p>
            <a:r>
              <a:t>衔接：接口中的搜索环节采用了关键词匹配，下面我们解释这一策略的取舍。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本页，我想聚焦搜索策略的选择。我们选择了关键词匹配，因为它让搜索结果可解释——用户和开发者都能理解为什么某个物品被检索到。而语义检索虽然能处理同义表述，但我们因构建复杂度尚未实施。这意味着当前原型可能遗漏同音或近义词，比如‘校园卡’和‘学生卡’。坦白说，我们没有做关键词与语义搜索的准确率对比，这是需要进一步验证的问题。</a:t>
            </a:r>
          </a:p>
          <a:p/>
          <a:p>
            <a:r>
              <a:t>大纲要点来源（摘录匹配不代表结论已核验，正文编辑后请重新核对）：</a:t>
            </a:r>
          </a:p>
          <a:p>
            <a:r>
              <a:t>关键词匹配使结果可解释，便于定位问题</a:t>
            </a:r>
          </a:p>
          <a:p>
            <a:r>
              <a:t>[S1:11] validation.txt 第 11 段：原型采用关键词匹配，便于解释结果和定位问题</a:t>
            </a:r>
          </a:p>
          <a:p>
            <a:r>
              <a:t>语义检索作为备选方向，尚未实施</a:t>
            </a:r>
          </a:p>
          <a:p>
            <a:r>
              <a:t>[S1:11] validation.txt 第 11 段：语义检索作为备选方向，尚未实施</a:t>
            </a:r>
          </a:p>
          <a:p>
            <a:r>
              <a:t>当前方案可能遗漏同义表述</a:t>
            </a:r>
          </a:p>
          <a:p>
            <a:r>
              <a:t>[S1:11] validation.txt 第 11 段：当前方案可能遗漏同义表述</a:t>
            </a:r>
          </a:p>
          <a:p>
            <a:r>
              <a:t>未对比关键词与语义搜索的准确率</a:t>
            </a:r>
          </a:p>
          <a:p>
            <a:r>
              <a:t>[S1:11] validation.txt 第 11 段：没有对比关键词搜索与语义搜索的准确率</a:t>
            </a:r>
          </a:p>
          <a:p/>
          <a:p>
            <a:r>
              <a:t>讲述提示（设计建议，不是事实来源）：</a:t>
            </a:r>
          </a:p>
          <a:p>
            <a:r>
              <a:t>听众：项目评审老师，熟悉学术验收标准，关注问题定义、方法取舍、证据可靠性与局限边界。</a:t>
            </a:r>
          </a:p>
          <a:p>
            <a:r>
              <a:t>全篇主线：从明确问题出发，展示个人在原型构建中的关键取舍与验证证据，坦诚面对尚未验证的边界。</a:t>
            </a:r>
          </a:p>
          <a:p>
            <a:r>
              <a:t>本页作用：论证搜索策略选择并指出局限性</a:t>
            </a:r>
          </a:p>
          <a:p>
            <a:r>
              <a:t>建议用时：62 秒（需实际排练校准）</a:t>
            </a:r>
          </a:p>
          <a:p>
            <a:r>
              <a:t>衔接：搜索与状态管理共同支撑核心流程，接下来我们探讨状态处理与核验机制。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上一页我们讨论了关键词匹配的取舍，现在来看状态处理与人工核验机制。目前系统将失物记录分为待认领和已认领两种状态，所有状态变更都依赖人工核实，这是为了避免自动更新带来的误判。同时，重复发布记录也仅通过人工发现与合并。但必须坦诚的是，并发更新冲突、误操作恢复和恶意认领防护这三个关键环节尚未经过验证——这是我们设计中暂时搁置的边界，也是下一步需要重点攻克的难点。</a:t>
            </a:r>
          </a:p>
          <a:p/>
          <a:p>
            <a:r>
              <a:t>大纲要点来源（摘录匹配不代表结论已核验，正文编辑后请重新核对）：</a:t>
            </a:r>
          </a:p>
          <a:p>
            <a:r>
              <a:t>状态分为待认领与已认领，由人工核验后更新</a:t>
            </a:r>
          </a:p>
          <a:p>
            <a:r>
              <a:t>[S1:12] validation.txt 第 12 段：记录分为待认领与已认领。人工核验后再更新状态</a:t>
            </a:r>
          </a:p>
          <a:p>
            <a:r>
              <a:t>重复发布当前通过人工发现和处理</a:t>
            </a:r>
          </a:p>
          <a:p>
            <a:r>
              <a:t>[S1:12] validation.txt 第 12 段：重复发布通过人工发现和处理</a:t>
            </a:r>
          </a:p>
          <a:p>
            <a:r>
              <a:t>并发更新冲突、误操作恢复、恶意认领防护尚未验证</a:t>
            </a:r>
          </a:p>
          <a:p>
            <a:r>
              <a:t>[S1:12] validation.txt 第 12 段：尚未验证并发更新冲突、误操作恢复和恶意认领防护</a:t>
            </a:r>
          </a:p>
          <a:p/>
          <a:p>
            <a:r>
              <a:t>讲述提示（设计建议，不是事实来源）：</a:t>
            </a:r>
          </a:p>
          <a:p>
            <a:r>
              <a:t>听众：项目评审老师，熟悉学术验收标准，关注问题定义、方法取舍、证据可靠性与局限边界。</a:t>
            </a:r>
          </a:p>
          <a:p>
            <a:r>
              <a:t>全篇主线：从明确问题出发，展示个人在原型构建中的关键取舍与验证证据，坦诚面对尚未验证的边界。</a:t>
            </a:r>
          </a:p>
          <a:p>
            <a:r>
              <a:t>本页作用：展示原型中关键机制及其未验证的边界</a:t>
            </a:r>
          </a:p>
          <a:p>
            <a:r>
              <a:t>建议用时：62 秒（需实际排练校准）</a:t>
            </a:r>
          </a:p>
          <a:p>
            <a:r>
              <a:t>衔接：接下来我们看数据边界的处理。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在进入数据边界与隐私考量。我必须坦诚：整个测试集都基于虚构物品，不包含任何真实姓名、手机号或身份凭证。但这是否足够？真实部署前，我们需要明确的隐私说明、数据保留规则以及完整的删除流程。目前，这些工作还没有完成验收，是一个开放的待验证点。接下来，我们将基于这样的数据边界，进入功能验证设计的介绍。</a:t>
            </a:r>
          </a:p>
          <a:p/>
          <a:p>
            <a:r>
              <a:t>大纲要点来源（摘录匹配不代表结论已核验，正文编辑后请重新核对）：</a:t>
            </a:r>
          </a:p>
          <a:p>
            <a:r>
              <a:t>测试集使用虚构物品，不保存真实姓名、手机号或身份凭证</a:t>
            </a:r>
          </a:p>
          <a:p>
            <a:r>
              <a:t>[S1:13] validation.txt 第 13 段：测试集使用虚构物品，不保存真实姓名、手机号或身份凭证</a:t>
            </a:r>
          </a:p>
          <a:p>
            <a:r>
              <a:t>真实部署前需明确隐私说明、数据保留规则及删除流程</a:t>
            </a:r>
          </a:p>
          <a:p>
            <a:r>
              <a:t>[S1:13] validation.txt 第 13 段：真实部署前仍需明确隐私说明、数据保留规则及删除流程</a:t>
            </a:r>
          </a:p>
          <a:p>
            <a:r>
              <a:t>上述流程尚未完成验收</a:t>
            </a:r>
          </a:p>
          <a:p>
            <a:r>
              <a:t>[S1:13] validation.txt 第 13 段：这些尚未完成验收</a:t>
            </a:r>
          </a:p>
          <a:p/>
          <a:p>
            <a:r>
              <a:t>讲述提示（设计建议，不是事实来源）：</a:t>
            </a:r>
          </a:p>
          <a:p>
            <a:r>
              <a:t>听众：项目评审老师，熟悉学术验收标准，关注问题定义、方法取舍、证据可靠性与局限边界。</a:t>
            </a:r>
          </a:p>
          <a:p>
            <a:r>
              <a:t>全篇主线：从明确问题出发，展示个人在原型构建中的关键取舍与验证证据，坦诚面对尚未验证的边界。</a:t>
            </a:r>
          </a:p>
          <a:p>
            <a:r>
              <a:t>本页作用：明确测试数据范围与隐私合规缺口</a:t>
            </a:r>
          </a:p>
          <a:p>
            <a:r>
              <a:t>建议用时：62 秒（需实际排练校准）</a:t>
            </a:r>
          </a:p>
          <a:p>
            <a:r>
              <a:t>衔接：基于这样的数据边界，我们设计了功能验证。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我们展示功能验证的设计与本地观察结果。我们构造了12条物品记录，手册检查了发布、检索和状态标签的基本可用性。表格中可以看到各测试项的结果，请注意空结果提示通过，但超长输入和特殊字符尚未测试，这是我们需要坦白的边界。</a:t>
            </a:r>
          </a:p>
          <a:p/>
          <a:p>
            <a:r>
              <a:t>大纲要点来源（摘录匹配不代表结论已核验，正文编辑后请重新核对）：</a:t>
            </a:r>
          </a:p>
          <a:p>
            <a:r>
              <a:t>本地构造12条物品记录：待认领8条，已认领4条；类别涵盖证件、电子设备、日用品 — 待补充依据</a:t>
            </a:r>
          </a:p>
          <a:p>
            <a:r>
              <a:t>本地检查验证了发布后可见、关键词检索、状态标签正确显示</a:t>
            </a:r>
          </a:p>
          <a:p>
            <a:r>
              <a:t>[S1:16] validation.txt 第 16 段：本地案例检查了输入记录能否保存、查询结果能否显示、状态标签是否与测试数据对应</a:t>
            </a:r>
          </a:p>
          <a:p>
            <a:r>
              <a:t>无匹配查询时展示空结果提示，但超长输入、特殊字符等尚未测试 — 待补充依据</a:t>
            </a:r>
          </a:p>
          <a:p/>
          <a:p>
            <a:r>
              <a:t>讲述提示（设计建议，不是事实来源）：</a:t>
            </a:r>
          </a:p>
          <a:p>
            <a:r>
              <a:t>听众：项目评审老师，熟悉学术验收标准，关注问题定义、方法取舍、证据可靠性与局限边界。</a:t>
            </a:r>
          </a:p>
          <a:p>
            <a:r>
              <a:t>全篇主线：从明确问题出发，展示个人在原型构建中的关键取舍与验证证据，坦诚面对尚未验证的边界。</a:t>
            </a:r>
          </a:p>
          <a:p>
            <a:r>
              <a:t>本页作用：呈现具体的验证操作与观察结果</a:t>
            </a:r>
          </a:p>
          <a:p>
            <a:r>
              <a:t>建议用时：62 秒（需实际排练校准）</a:t>
            </a:r>
          </a:p>
          <a:p>
            <a:r>
              <a:t>衔接：功能验证让我们看到基本流程可行，但必须正视尚未处理的风险。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以上是我们目前能识别的风险：描述不一致、状态滞后、重复记录、人工核验误判。坦诚地说，这些风险在真实场景中的发生频率和损失大小，我们还没有系统数据。接下来进入阶段性结论，一起讨论这些取舍和边界的合理性。</a:t>
            </a:r>
          </a:p>
          <a:p/>
          <a:p>
            <a:r>
              <a:t>大纲要点来源（摘录匹配不代表结论已核验，正文编辑后请重新核对）：</a:t>
            </a:r>
          </a:p>
          <a:p>
            <a:r>
              <a:t>描述可能不完整；用户可能使用不同称呼</a:t>
            </a:r>
          </a:p>
          <a:p>
            <a:r>
              <a:t>[S1:20] validation.txt 第 20 段：描述可能不完整；用户可能使用不同称呼</a:t>
            </a:r>
          </a:p>
          <a:p>
            <a:r>
              <a:t>状态可能更新不及时；重复记录可能影响判断</a:t>
            </a:r>
          </a:p>
          <a:p>
            <a:r>
              <a:t>[S1:20] validation.txt 第 20 段：状态可能更新不及时；重复记录可能影响判断</a:t>
            </a:r>
          </a:p>
          <a:p>
            <a:r>
              <a:t>人工认领核验可能发生误判；上述风险无真实发生频率或损失数据</a:t>
            </a:r>
          </a:p>
          <a:p>
            <a:r>
              <a:t>[S1:20] validation.txt 第 20 段：人工认领核验可能发生误判。没有这些风险的真实发生频率或损失数据</a:t>
            </a:r>
          </a:p>
          <a:p/>
          <a:p>
            <a:r>
              <a:t>讲述提示（设计建议，不是事实来源）：</a:t>
            </a:r>
          </a:p>
          <a:p>
            <a:r>
              <a:t>听众：项目评审老师，熟悉学术验收标准，关注问题定义、方法取舍、证据可靠性与局限边界。</a:t>
            </a:r>
          </a:p>
          <a:p>
            <a:r>
              <a:t>全篇主线：从明确问题出发，展示个人在原型构建中的关键取舍与验证证据，坦诚面对尚未验证的边界。</a:t>
            </a:r>
          </a:p>
          <a:p>
            <a:r>
              <a:t>本页作用：坦诚罗列已知风险与证据缺口</a:t>
            </a:r>
          </a:p>
          <a:p>
            <a:r>
              <a:t>建议用时：62 秒（需实际排练校准）</a:t>
            </a:r>
          </a:p>
          <a:p>
            <a:r>
              <a:t>衔接：综合上述风险与验证结果，我们进入阶段性结论。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以上是本次验收的全部内容。我们已连接了发布、检索和状态更新的基本流程，并用虚构数据做了演示。但真正上线还需要真实用户反馈、性能压力测试和安全防护验证。请各位评审老师就原型的取舍是否合理，以及并发、恶意认领、同义匹配这些未验证边界应该优先处理哪一项，展开讨论。</a:t>
            </a:r>
          </a:p>
          <a:p/>
          <a:p>
            <a:r>
              <a:t>大纲要点来源（摘录匹配不代表结论已核验，正文编辑后请重新核对）：</a:t>
            </a:r>
          </a:p>
          <a:p>
            <a:r>
              <a:t>原型已连接发布、检索和状态展示的基本流程</a:t>
            </a:r>
          </a:p>
          <a:p>
            <a:r>
              <a:t>[S1:23] validation.txt 第 23 段：原型已连接发布、检索和状态展示的基本流程</a:t>
            </a:r>
          </a:p>
          <a:p>
            <a:r>
              <a:t>本地虚构数据可用于演示，但真实用户价值、规模化性能及完整安全性仍待验证</a:t>
            </a:r>
          </a:p>
          <a:p>
            <a:r>
              <a:t>[S1:23] validation.txt 第 23 段：本地虚构数据可用于演示。真实用户价值、规模化性能及完整安全性仍待验证</a:t>
            </a:r>
          </a:p>
          <a:p>
            <a:r>
              <a:t>进一步决策需要真实使用反馈与异常场景测试结果</a:t>
            </a:r>
          </a:p>
          <a:p>
            <a:r>
              <a:t>[S1:23] validation.txt 第 23 段：进一步决策需要真实使用反馈与异常场景测试结果</a:t>
            </a:r>
          </a:p>
          <a:p/>
          <a:p>
            <a:r>
              <a:t>讲述提示（设计建议，不是事实来源）：</a:t>
            </a:r>
          </a:p>
          <a:p>
            <a:r>
              <a:t>听众：项目评审老师，熟悉学术验收标准，关注问题定义、方法取舍、证据可靠性与局限边界。</a:t>
            </a:r>
          </a:p>
          <a:p>
            <a:r>
              <a:t>全篇主线：从明确问题出发，展示个人在原型构建中的关键取舍与验证证据，坦诚面对尚未验证的边界。</a:t>
            </a:r>
          </a:p>
          <a:p>
            <a:r>
              <a:t>本页作用：总结贡献与开放问题，引导评审讨论</a:t>
            </a:r>
          </a:p>
          <a:p>
            <a:r>
              <a:t>建议用时：62 秒（需实际排练校准）</a:t>
            </a:r>
          </a:p>
          <a:p>
            <a:r>
              <a:t>衔接：以上就是本次验收的全部内容，欢迎各位评审老师就原型取舍与验证边界展开讨论。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rect"/>
          <p:cNvSpPr/>
          <p:nvPr/>
        </p:nvSpPr>
        <p:spPr>
          <a:xfrm>
            <a:off x="0" y="0"/>
            <a:ext cx="1706880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0400" y="1691514"/>
            <a:ext cx="10871200" cy="6190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</a:pPr>
            <a:r>
              <a:rPr sz="3400" b="0" i="0">
                <a:solidFill>
                  <a:srgbClr val="132033"/>
                </a:solidFill>
                <a:latin typeface="Arial"/>
                <a:ea typeface="微软雅黑"/>
              </a:rPr>
              <a:t>分散与滞后：校园失物招领的真实痛点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400" y="2615342"/>
            <a:ext cx="10871200" cy="1986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228600" indent="-228600">
              <a:lnSpc>
                <a:spcPct val="162000"/>
              </a:lnSpc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信息分散在多个群聊，历史消息需逐条翻阅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相同物品重复发布，消息缺少统一分类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已认领物品仍可能继续转发，状态更新滞后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当前材料为人工构造的验收场景，未测量查找所需时间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rect"/>
          <p:cNvSpPr/>
          <p:nvPr/>
        </p:nvSpPr>
        <p:spPr>
          <a:xfrm>
            <a:off x="0" y="0"/>
            <a:ext cx="1706880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0400" y="533400"/>
            <a:ext cx="10871200" cy="6190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</a:pPr>
            <a:r>
              <a:rPr sz="3400" b="0" i="0">
                <a:solidFill>
                  <a:srgbClr val="132033"/>
                </a:solidFill>
                <a:latin typeface="Arial"/>
                <a:ea typeface="微软雅黑"/>
              </a:rPr>
              <a:t>已有认识与缺口：搜索与状态同步的可靠性未验证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400" y="1355628"/>
            <a:ext cx="5334000" cy="38178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228600" indent="-228600">
              <a:lnSpc>
                <a:spcPct val="162000"/>
              </a:lnSpc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群聊历史消息需逐条翻阅，缺少统一分类，重复发布与已认领转发并存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关键词匹配可能遗漏同义表述，未与语义搜索进行准确率对比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97600" y="1355628"/>
            <a:ext cx="5334000" cy="38178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228600" indent="-228600">
              <a:lnSpc>
                <a:spcPct val="162000"/>
              </a:lnSpc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状态处理依赖人工核验并发更新冲突、误操作恢复和恶意认领防护尚未验证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结论：搜索与状态同步的可靠性缺少可追溯的验证证据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rect"/>
          <p:cNvSpPr/>
          <p:nvPr/>
        </p:nvSpPr>
        <p:spPr>
          <a:xfrm>
            <a:off x="0" y="0"/>
            <a:ext cx="1706880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0400" y="533400"/>
            <a:ext cx="10871200" cy="6190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</a:pPr>
            <a:r>
              <a:rPr sz="3400" b="0" i="0">
                <a:solidFill>
                  <a:srgbClr val="132033"/>
                </a:solidFill>
                <a:latin typeface="Arial"/>
                <a:ea typeface="微软雅黑"/>
              </a:rPr>
              <a:t>目标与范围：统一入口，明确排除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400" y="1304828"/>
            <a:ext cx="5283200" cy="2820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228600" indent="-228600">
              <a:lnSpc>
                <a:spcPct val="162000"/>
              </a:lnSpc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核心：发布、浏览、检索、状态更新一条路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包含：文字描述、物品类别、拾取地点、认领状态（四维信息）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用户路径：拾获者填写→失主搜索→线下核验→状态更新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8400" y="1304828"/>
            <a:ext cx="5283200" cy="2820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228600" indent="-228600">
              <a:lnSpc>
                <a:spcPct val="162000"/>
              </a:lnSpc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已排除：图片相似度检索、智能身份识别、支付、实时聊天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未实现：跨校区推荐、语义同义匹配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边界：搜索命中≠确认归属，系统不做自动身份判断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0400" y="4277588"/>
            <a:ext cx="10871200" cy="946684"/>
          </a:xfrm>
          <a:prstGeom prst="roundRect">
            <a:avLst>
              <a:gd name="adj" fmla="val 10732"/>
            </a:avLst>
          </a:prstGeom>
          <a:solidFill>
            <a:srgbClr val="D6D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2800" y="4391888"/>
            <a:ext cx="10566400" cy="7180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65000"/>
              </a:lnSpc>
            </a:pPr>
            <a:r>
              <a:rPr sz="1500" b="0" i="0">
                <a:solidFill>
                  <a:srgbClr val="344358"/>
                </a:solidFill>
                <a:latin typeface="Arial"/>
                <a:ea typeface="微软雅黑"/>
              </a:rPr>
              <a:t>四个已排除模块均未编写代码，只作为未来方向记录。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rect"/>
          <p:cNvSpPr/>
          <p:nvPr/>
        </p:nvSpPr>
        <p:spPr>
          <a:xfrm>
            <a:off x="0" y="0"/>
            <a:ext cx="1706880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0400" y="533400"/>
            <a:ext cx="10871200" cy="6190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</a:pPr>
            <a:r>
              <a:rPr sz="3400" b="0" i="0">
                <a:solidFill>
                  <a:srgbClr val="132033"/>
                </a:solidFill>
                <a:latin typeface="Arial"/>
                <a:ea typeface="微软雅黑"/>
              </a:rPr>
              <a:t>角色假设与风险清单——尚未验证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400" y="1304828"/>
            <a:ext cx="5334000" cy="286277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228600" indent="-228600">
              <a:lnSpc>
                <a:spcPct val="162000"/>
              </a:lnSpc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失主：找到候选物品并核实详情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拾获者：发布线索、更新状态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管理员：处理重复或不当记录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97600" y="1304828"/>
            <a:ext cx="5334000" cy="286277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228600" indent="-228600">
              <a:lnSpc>
                <a:spcPct val="162000"/>
              </a:lnSpc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角色描述不完整，用户可能使用不同称呼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状态更新不及时，重复记录影响判断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人工认领核验可能发生误判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400" y="4320008"/>
            <a:ext cx="10871200" cy="9042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65000"/>
              </a:lnSpc>
            </a:pPr>
            <a:r>
              <a:rPr sz="1500" b="0" i="0">
                <a:solidFill>
                  <a:srgbClr val="344358"/>
                </a:solidFill>
                <a:latin typeface="Arial"/>
                <a:ea typeface="微软雅黑"/>
              </a:rPr>
              <a:t>角色来自场景设定，尚未通过用户访谈验证；无风险发生频率或损失数据。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rect"/>
          <p:cNvSpPr/>
          <p:nvPr/>
        </p:nvSpPr>
        <p:spPr>
          <a:xfrm>
            <a:off x="0" y="0"/>
            <a:ext cx="1706880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0400" y="533400"/>
            <a:ext cx="10871200" cy="6190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</a:pPr>
            <a:r>
              <a:rPr sz="3400" b="0" i="0">
                <a:solidFill>
                  <a:srgbClr val="132033"/>
                </a:solidFill>
                <a:latin typeface="Arial"/>
                <a:ea typeface="微软雅黑"/>
              </a:rPr>
              <a:t>原型用户路径：发布—检索—核验—更新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0400" y="1355628"/>
            <a:ext cx="2565400" cy="3817844"/>
          </a:xfrm>
          <a:prstGeom prst="roundRect">
            <a:avLst>
              <a:gd name="adj" fmla="val 396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2800" y="1508028"/>
            <a:ext cx="2260600" cy="35130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45000"/>
              </a:lnSpc>
            </a:pPr>
            <a:r>
              <a:rPr sz="1900" b="1" i="0">
                <a:solidFill>
                  <a:srgbClr val="344358"/>
                </a:solidFill>
                <a:latin typeface="Segoe UI Emoji"/>
                <a:ea typeface="Segoe UI Emoji"/>
                <a:cs typeface="Segoe UI Emoji"/>
              </a:rPr>
              <a:t>✏️</a:t>
            </a:r>
            <a:r>
              <a:rPr sz="1900" b="1" i="0">
                <a:solidFill>
                  <a:srgbClr val="344358"/>
                </a:solidFill>
                <a:latin typeface="Arial"/>
                <a:ea typeface="微软雅黑"/>
              </a:rPr>
              <a:t> 步骤1：发布记录</a:t>
            </a:r>
          </a:p>
          <a:p>
            <a:pPr>
              <a:lnSpc>
                <a:spcPct val="165000"/>
              </a:lnSpc>
              <a:spcBef>
                <a:spcPts val="600"/>
              </a:spcBef>
            </a:pPr>
            <a:r>
              <a:rPr sz="1500" b="0" i="0">
                <a:solidFill>
                  <a:srgbClr val="344358"/>
                </a:solidFill>
                <a:latin typeface="Arial"/>
                <a:ea typeface="微软雅黑"/>
              </a:rPr>
              <a:t>拾获者填写物品描述与类别，保存至失物数据库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355628"/>
            <a:ext cx="2565400" cy="3817844"/>
          </a:xfrm>
          <a:prstGeom prst="roundRect">
            <a:avLst>
              <a:gd name="adj" fmla="val 396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81400" y="1508028"/>
            <a:ext cx="2260600" cy="35130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45000"/>
              </a:lnSpc>
            </a:pPr>
            <a:r>
              <a:rPr sz="1900" b="1" i="0">
                <a:solidFill>
                  <a:srgbClr val="344358"/>
                </a:solidFill>
                <a:latin typeface="Segoe UI Emoji"/>
                <a:ea typeface="Segoe UI Emoji"/>
                <a:cs typeface="Segoe UI Emoji"/>
              </a:rPr>
              <a:t>🔍</a:t>
            </a:r>
            <a:r>
              <a:rPr sz="1900" b="1" i="0">
                <a:solidFill>
                  <a:srgbClr val="344358"/>
                </a:solidFill>
                <a:latin typeface="Arial"/>
                <a:ea typeface="微软雅黑"/>
              </a:rPr>
              <a:t> 步骤2：搜索候选</a:t>
            </a:r>
          </a:p>
          <a:p>
            <a:pPr>
              <a:lnSpc>
                <a:spcPct val="165000"/>
              </a:lnSpc>
              <a:spcBef>
                <a:spcPts val="600"/>
              </a:spcBef>
            </a:pPr>
            <a:r>
              <a:rPr sz="1500" b="0" i="0">
                <a:solidFill>
                  <a:srgbClr val="344358"/>
                </a:solidFill>
                <a:latin typeface="Arial"/>
                <a:ea typeface="微软雅黑"/>
              </a:rPr>
              <a:t>失主通过关键词与分类筛选候选物品，系统返回结果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7600" y="1355628"/>
            <a:ext cx="2565400" cy="3817844"/>
          </a:xfrm>
          <a:prstGeom prst="roundRect">
            <a:avLst>
              <a:gd name="adj" fmla="val 396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0000" y="1508028"/>
            <a:ext cx="2260600" cy="35130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45000"/>
              </a:lnSpc>
            </a:pPr>
            <a:r>
              <a:rPr sz="1900" b="1" i="0">
                <a:solidFill>
                  <a:srgbClr val="344358"/>
                </a:solidFill>
                <a:latin typeface="Segoe UI Emoji"/>
                <a:ea typeface="Segoe UI Emoji"/>
                <a:cs typeface="Segoe UI Emoji"/>
              </a:rPr>
              <a:t>👤</a:t>
            </a:r>
            <a:r>
              <a:rPr sz="1900" b="1" i="0">
                <a:solidFill>
                  <a:srgbClr val="344358"/>
                </a:solidFill>
                <a:latin typeface="Arial"/>
                <a:ea typeface="微软雅黑"/>
              </a:rPr>
              <a:t> 步骤3：线下核验</a:t>
            </a:r>
          </a:p>
          <a:p>
            <a:pPr>
              <a:lnSpc>
                <a:spcPct val="165000"/>
              </a:lnSpc>
              <a:spcBef>
                <a:spcPts val="600"/>
              </a:spcBef>
            </a:pPr>
            <a:r>
              <a:rPr sz="1500" b="0" i="0">
                <a:solidFill>
                  <a:srgbClr val="344358"/>
                </a:solidFill>
                <a:latin typeface="Arial"/>
                <a:ea typeface="微软雅黑"/>
              </a:rPr>
              <a:t>失主与拾获者线下确认物品归属，系统不自动判断身份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6200" y="1355628"/>
            <a:ext cx="2565400" cy="3817844"/>
          </a:xfrm>
          <a:prstGeom prst="roundRect">
            <a:avLst>
              <a:gd name="adj" fmla="val 396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18600" y="1508028"/>
            <a:ext cx="2260600" cy="35130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45000"/>
              </a:lnSpc>
            </a:pPr>
            <a:r>
              <a:rPr sz="1900" b="1" i="0">
                <a:solidFill>
                  <a:srgbClr val="344358"/>
                </a:solidFill>
                <a:latin typeface="Segoe UI Emoji"/>
                <a:ea typeface="Segoe UI Emoji"/>
                <a:cs typeface="Segoe UI Emoji"/>
              </a:rPr>
              <a:t>✅</a:t>
            </a:r>
            <a:r>
              <a:rPr sz="1900" b="1" i="0">
                <a:solidFill>
                  <a:srgbClr val="344358"/>
                </a:solidFill>
                <a:latin typeface="Arial"/>
                <a:ea typeface="微软雅黑"/>
              </a:rPr>
              <a:t> 步骤4：更新状态</a:t>
            </a:r>
          </a:p>
          <a:p>
            <a:pPr>
              <a:lnSpc>
                <a:spcPct val="165000"/>
              </a:lnSpc>
              <a:spcBef>
                <a:spcPts val="600"/>
              </a:spcBef>
            </a:pPr>
            <a:r>
              <a:rPr sz="1500" b="0" i="0">
                <a:solidFill>
                  <a:srgbClr val="344358"/>
                </a:solidFill>
                <a:latin typeface="Arial"/>
                <a:ea typeface="微软雅黑"/>
              </a:rPr>
              <a:t>人工确认后，将记录标记为“已认领”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rect"/>
          <p:cNvSpPr/>
          <p:nvPr/>
        </p:nvSpPr>
        <p:spPr>
          <a:xfrm>
            <a:off x="0" y="0"/>
            <a:ext cx="1706880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0400" y="533400"/>
            <a:ext cx="10871200" cy="6190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</a:pPr>
            <a:r>
              <a:rPr sz="3400" b="0" i="0">
                <a:solidFill>
                  <a:srgbClr val="132033"/>
                </a:solidFill>
                <a:latin typeface="Arial"/>
                <a:ea typeface="微软雅黑"/>
              </a:rPr>
              <a:t>界面结构示意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400" y="1355628"/>
            <a:ext cx="10871200" cy="274364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228600" indent="-228600">
              <a:lnSpc>
                <a:spcPct val="165000"/>
              </a:lnSpc>
              <a:buClr>
                <a:srgbClr val="1D4ED8"/>
              </a:buClr>
              <a:buFont typeface="Arial"/>
              <a:buChar char="—"/>
            </a:pPr>
            <a:r>
              <a:rPr sz="1500" b="0" i="0">
                <a:solidFill>
                  <a:srgbClr val="344358"/>
                </a:solidFill>
                <a:latin typeface="Arial"/>
                <a:ea typeface="微软雅黑"/>
              </a:rPr>
              <a:t>列表页展示物品摘要、类别与状态标签</a:t>
            </a:r>
          </a:p>
          <a:p>
            <a:pPr marL="228600" indent="-228600">
              <a:lnSpc>
                <a:spcPct val="165000"/>
              </a:lnSpc>
              <a:spcBef>
                <a:spcPts val="1200"/>
              </a:spcBef>
              <a:buClr>
                <a:srgbClr val="1D4ED8"/>
              </a:buClr>
              <a:buFont typeface="Arial"/>
              <a:buChar char="—"/>
            </a:pPr>
            <a:r>
              <a:rPr sz="1500" b="0" i="0">
                <a:solidFill>
                  <a:srgbClr val="344358"/>
                </a:solidFill>
                <a:latin typeface="Arial"/>
                <a:ea typeface="微软雅黑"/>
              </a:rPr>
              <a:t>详情页显示完整描述与拾取地点</a:t>
            </a:r>
          </a:p>
          <a:p>
            <a:pPr marL="228600" indent="-228600">
              <a:lnSpc>
                <a:spcPct val="165000"/>
              </a:lnSpc>
              <a:spcBef>
                <a:spcPts val="1200"/>
              </a:spcBef>
              <a:buClr>
                <a:srgbClr val="1D4ED8"/>
              </a:buClr>
              <a:buFont typeface="Arial"/>
              <a:buChar char="—"/>
            </a:pPr>
            <a:r>
              <a:rPr sz="1500" b="0" i="0">
                <a:solidFill>
                  <a:srgbClr val="344358"/>
                </a:solidFill>
                <a:latin typeface="Arial"/>
                <a:ea typeface="微软雅黑"/>
              </a:rPr>
              <a:t>发布表单对必填项提供提示</a:t>
            </a:r>
          </a:p>
          <a:p>
            <a:pPr marL="228600" indent="-228600">
              <a:lnSpc>
                <a:spcPct val="165000"/>
              </a:lnSpc>
              <a:spcBef>
                <a:spcPts val="1200"/>
              </a:spcBef>
              <a:buClr>
                <a:srgbClr val="1D4ED8"/>
              </a:buClr>
              <a:buFont typeface="Arial"/>
              <a:buChar char="—"/>
            </a:pPr>
            <a:r>
              <a:rPr sz="1500" b="0" i="0">
                <a:solidFill>
                  <a:srgbClr val="344358"/>
                </a:solidFill>
                <a:latin typeface="Arial"/>
                <a:ea typeface="微软雅黑"/>
              </a:rPr>
              <a:t>状态操作给出结果反馈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0400" y="4302474"/>
            <a:ext cx="10871200" cy="870998"/>
          </a:xfrm>
          <a:prstGeom prst="roundRect">
            <a:avLst>
              <a:gd name="adj" fmla="val 11664"/>
            </a:avLst>
          </a:prstGeom>
          <a:solidFill>
            <a:srgbClr val="D6D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2800" y="4416774"/>
            <a:ext cx="10566400" cy="64239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65000"/>
              </a:lnSpc>
            </a:pPr>
            <a:r>
              <a:rPr sz="1500" b="0" i="0">
                <a:solidFill>
                  <a:srgbClr val="344358"/>
                </a:solidFill>
                <a:latin typeface="Arial"/>
                <a:ea typeface="微软雅黑"/>
              </a:rPr>
              <a:t>无经授权截图素材本页未提供真实截图。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rect"/>
          <p:cNvSpPr/>
          <p:nvPr/>
        </p:nvSpPr>
        <p:spPr>
          <a:xfrm>
            <a:off x="0" y="0"/>
            <a:ext cx="1706880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0400" y="533400"/>
            <a:ext cx="10871200" cy="6190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</a:pPr>
            <a:r>
              <a:rPr sz="3400" b="0" i="0">
                <a:solidFill>
                  <a:srgbClr val="132033"/>
                </a:solidFill>
                <a:latin typeface="Arial"/>
                <a:ea typeface="微软雅黑"/>
              </a:rPr>
              <a:t>技术结构概览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400" y="1355628"/>
            <a:ext cx="10871200" cy="25434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228600" indent="-228600">
              <a:lnSpc>
                <a:spcPct val="162000"/>
              </a:lnSpc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前端：React 表单与列表交互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后端：FastAPI 提供 REST 接口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数据库：PostgreSQL 存储失物记录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0400" y="4102276"/>
            <a:ext cx="10871200" cy="1071196"/>
          </a:xfrm>
          <a:prstGeom prst="roundRect">
            <a:avLst>
              <a:gd name="adj" fmla="val 9484"/>
            </a:avLst>
          </a:prstGeom>
          <a:solidFill>
            <a:srgbClr val="D6D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2800" y="4216576"/>
            <a:ext cx="10566400" cy="8425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65000"/>
              </a:lnSpc>
            </a:pPr>
            <a:r>
              <a:rPr sz="1500" b="0" i="0">
                <a:solidFill>
                  <a:srgbClr val="344358"/>
                </a:solidFill>
                <a:latin typeface="Arial"/>
                <a:ea typeface="微软雅黑"/>
              </a:rPr>
              <a:t>当前为单实例原型，仅用于功能验证，未进行负载测试。高并发性能属待验证边界。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rect"/>
          <p:cNvSpPr/>
          <p:nvPr/>
        </p:nvSpPr>
        <p:spPr>
          <a:xfrm>
            <a:off x="0" y="0"/>
            <a:ext cx="1706880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0400" y="533400"/>
            <a:ext cx="10871200" cy="6190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</a:pPr>
            <a:r>
              <a:rPr sz="3400" b="0" i="0">
                <a:solidFill>
                  <a:srgbClr val="132033"/>
                </a:solidFill>
                <a:latin typeface="Arial"/>
                <a:ea typeface="微软雅黑"/>
              </a:rPr>
              <a:t>数据模型与约束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60400" y="1304828"/>
          <a:ext cx="10871200" cy="391944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435600"/>
                <a:gridCol w="5435600"/>
              </a:tblGrid>
              <a:tr h="55992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32033"/>
                          </a:solidFill>
                          <a:latin typeface="Arial"/>
                          <a:ea typeface="微软雅黑"/>
                        </a:rPr>
                        <a:t>字段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>
                      <a:solidFill>
                        <a:srgbClr val="1D4ED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32033"/>
                          </a:solidFill>
                          <a:latin typeface="Arial"/>
                          <a:ea typeface="微软雅黑"/>
                        </a:rPr>
                        <a:t>说明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>
                      <a:solidFill>
                        <a:srgbClr val="1D4ED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992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44358"/>
                          </a:solidFill>
                          <a:latin typeface="Arial"/>
                          <a:ea typeface="微软雅黑"/>
                        </a:rPr>
                        <a:t>id / 标题 / 描述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44358"/>
                          </a:solidFill>
                          <a:latin typeface="Arial"/>
                          <a:ea typeface="微软雅黑"/>
                        </a:rPr>
                        <a:t>字符串，主标识与内容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992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44358"/>
                          </a:solidFill>
                          <a:latin typeface="Arial"/>
                          <a:ea typeface="微软雅黑"/>
                        </a:rPr>
                        <a:t>类别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44358"/>
                          </a:solidFill>
                          <a:latin typeface="Arial"/>
                          <a:ea typeface="微软雅黑"/>
                        </a:rPr>
                        <a:t>受约束枚举（如：电子产品、证件、书籍等）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992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44358"/>
                          </a:solidFill>
                          <a:latin typeface="Arial"/>
                          <a:ea typeface="微软雅黑"/>
                        </a:rPr>
                        <a:t>地点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44358"/>
                          </a:solidFill>
                          <a:latin typeface="Arial"/>
                          <a:ea typeface="微软雅黑"/>
                        </a:rPr>
                        <a:t>字符串，标注拾取或遗失位置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992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44358"/>
                          </a:solidFill>
                          <a:latin typeface="Arial"/>
                          <a:ea typeface="微软雅黑"/>
                        </a:rPr>
                        <a:t>状态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44358"/>
                          </a:solidFill>
                          <a:latin typeface="Arial"/>
                          <a:ea typeface="微软雅黑"/>
                        </a:rPr>
                        <a:t>受约束枚举（待认领 / 已认领 / 已撤销）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992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44358"/>
                          </a:solidFill>
                          <a:latin typeface="Arial"/>
                          <a:ea typeface="微软雅黑"/>
                        </a:rPr>
                        <a:t>创建时间 / 更新时间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44358"/>
                          </a:solidFill>
                          <a:latin typeface="Arial"/>
                          <a:ea typeface="微软雅黑"/>
                        </a:rPr>
                        <a:t>时间戳，记录生命周期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9924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44358"/>
                          </a:solidFill>
                          <a:latin typeface="Arial"/>
                          <a:ea typeface="微软雅黑"/>
                        </a:rPr>
                        <a:t>向量数据库 / 外部检索服务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44358"/>
                          </a:solidFill>
                          <a:latin typeface="Arial"/>
                          <a:ea typeface="微软雅黑"/>
                        </a:rPr>
                        <a:t>未引入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rect"/>
          <p:cNvSpPr/>
          <p:nvPr/>
        </p:nvSpPr>
        <p:spPr>
          <a:xfrm>
            <a:off x="0" y="0"/>
            <a:ext cx="1706880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0400" y="533400"/>
            <a:ext cx="10871200" cy="6190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</a:pPr>
            <a:r>
              <a:rPr sz="3400" b="0" i="0">
                <a:solidFill>
                  <a:srgbClr val="132033"/>
                </a:solidFill>
                <a:latin typeface="Arial"/>
                <a:ea typeface="微软雅黑"/>
              </a:rPr>
              <a:t>接口分工与分工依据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0400" y="1355628"/>
            <a:ext cx="2565400" cy="2695666"/>
          </a:xfrm>
          <a:prstGeom prst="roundRect">
            <a:avLst>
              <a:gd name="adj" fmla="val 396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2800" y="1508028"/>
            <a:ext cx="2260600" cy="239086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45000"/>
              </a:lnSpc>
            </a:pPr>
            <a:r>
              <a:rPr sz="1900" b="1" i="0">
                <a:solidFill>
                  <a:srgbClr val="344358"/>
                </a:solidFill>
                <a:latin typeface="Segoe UI Emoji"/>
                <a:ea typeface="Segoe UI Emoji"/>
                <a:cs typeface="Segoe UI Emoji"/>
              </a:rPr>
              <a:t>📤</a:t>
            </a:r>
            <a:r>
              <a:rPr sz="1900" b="1" i="0">
                <a:solidFill>
                  <a:srgbClr val="344358"/>
                </a:solidFill>
                <a:latin typeface="Arial"/>
                <a:ea typeface="微软雅黑"/>
              </a:rPr>
              <a:t> 发布</a:t>
            </a:r>
          </a:p>
          <a:p>
            <a:pPr>
              <a:lnSpc>
                <a:spcPct val="165000"/>
              </a:lnSpc>
              <a:spcBef>
                <a:spcPts val="600"/>
              </a:spcBef>
            </a:pPr>
            <a:r>
              <a:rPr sz="1500" b="0" i="0">
                <a:solidFill>
                  <a:srgbClr val="344358"/>
                </a:solidFill>
                <a:latin typeface="Arial"/>
                <a:ea typeface="微软雅黑"/>
              </a:rPr>
              <a:t>检查输入并写入记录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355628"/>
            <a:ext cx="2565400" cy="2695666"/>
          </a:xfrm>
          <a:prstGeom prst="roundRect">
            <a:avLst>
              <a:gd name="adj" fmla="val 396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81400" y="1508028"/>
            <a:ext cx="2260600" cy="239086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45000"/>
              </a:lnSpc>
            </a:pPr>
            <a:r>
              <a:rPr sz="1900" b="1" i="0">
                <a:solidFill>
                  <a:srgbClr val="344358"/>
                </a:solidFill>
                <a:latin typeface="Segoe UI Emoji"/>
                <a:ea typeface="Segoe UI Emoji"/>
                <a:cs typeface="Segoe UI Emoji"/>
              </a:rPr>
              <a:t>📋</a:t>
            </a:r>
            <a:r>
              <a:rPr sz="1900" b="1" i="0">
                <a:solidFill>
                  <a:srgbClr val="344358"/>
                </a:solidFill>
                <a:latin typeface="Arial"/>
                <a:ea typeface="微软雅黑"/>
              </a:rPr>
              <a:t> 列表</a:t>
            </a:r>
          </a:p>
          <a:p>
            <a:pPr>
              <a:lnSpc>
                <a:spcPct val="165000"/>
              </a:lnSpc>
              <a:spcBef>
                <a:spcPts val="600"/>
              </a:spcBef>
            </a:pPr>
            <a:r>
              <a:rPr sz="1500" b="0" i="0">
                <a:solidFill>
                  <a:srgbClr val="344358"/>
                </a:solidFill>
                <a:latin typeface="Arial"/>
                <a:ea typeface="微软雅黑"/>
              </a:rPr>
              <a:t>返回当前记录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7600" y="1355628"/>
            <a:ext cx="2565400" cy="2695666"/>
          </a:xfrm>
          <a:prstGeom prst="roundRect">
            <a:avLst>
              <a:gd name="adj" fmla="val 396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0000" y="1508028"/>
            <a:ext cx="2260600" cy="239086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45000"/>
              </a:lnSpc>
            </a:pPr>
            <a:r>
              <a:rPr sz="1900" b="1" i="0">
                <a:solidFill>
                  <a:srgbClr val="344358"/>
                </a:solidFill>
                <a:latin typeface="Segoe UI Emoji"/>
                <a:ea typeface="Segoe UI Emoji"/>
                <a:cs typeface="Segoe UI Emoji"/>
              </a:rPr>
              <a:t>🔍</a:t>
            </a:r>
            <a:r>
              <a:rPr sz="1900" b="1" i="0">
                <a:solidFill>
                  <a:srgbClr val="344358"/>
                </a:solidFill>
                <a:latin typeface="Arial"/>
                <a:ea typeface="微软雅黑"/>
              </a:rPr>
              <a:t> 搜索</a:t>
            </a:r>
          </a:p>
          <a:p>
            <a:pPr>
              <a:lnSpc>
                <a:spcPct val="165000"/>
              </a:lnSpc>
              <a:spcBef>
                <a:spcPts val="600"/>
              </a:spcBef>
            </a:pPr>
            <a:r>
              <a:rPr sz="1500" b="0" i="0">
                <a:solidFill>
                  <a:srgbClr val="344358"/>
                </a:solidFill>
                <a:latin typeface="Arial"/>
                <a:ea typeface="微软雅黑"/>
              </a:rPr>
              <a:t>组合关键词与类别条件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6200" y="1355628"/>
            <a:ext cx="2565400" cy="2695666"/>
          </a:xfrm>
          <a:prstGeom prst="roundRect">
            <a:avLst>
              <a:gd name="adj" fmla="val 396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18600" y="1508028"/>
            <a:ext cx="2260600" cy="239086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45000"/>
              </a:lnSpc>
            </a:pPr>
            <a:r>
              <a:rPr sz="1900" b="1" i="0">
                <a:solidFill>
                  <a:srgbClr val="344358"/>
                </a:solidFill>
                <a:latin typeface="Segoe UI Emoji"/>
                <a:ea typeface="Segoe UI Emoji"/>
                <a:cs typeface="Segoe UI Emoji"/>
              </a:rPr>
              <a:t>🔄</a:t>
            </a:r>
            <a:r>
              <a:rPr sz="1900" b="1" i="0">
                <a:solidFill>
                  <a:srgbClr val="344358"/>
                </a:solidFill>
                <a:latin typeface="Arial"/>
                <a:ea typeface="微软雅黑"/>
              </a:rPr>
              <a:t> 更新</a:t>
            </a:r>
          </a:p>
          <a:p>
            <a:pPr>
              <a:lnSpc>
                <a:spcPct val="165000"/>
              </a:lnSpc>
              <a:spcBef>
                <a:spcPts val="600"/>
              </a:spcBef>
            </a:pPr>
            <a:r>
              <a:rPr sz="1500" b="0" i="0">
                <a:solidFill>
                  <a:srgbClr val="344358"/>
                </a:solidFill>
                <a:latin typeface="Arial"/>
                <a:ea typeface="微软雅黑"/>
              </a:rPr>
              <a:t>修改认领状态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0400" y="4254495"/>
            <a:ext cx="10871200" cy="918977"/>
          </a:xfrm>
          <a:prstGeom prst="roundRect">
            <a:avLst>
              <a:gd name="adj" fmla="val 11055"/>
            </a:avLst>
          </a:prstGeom>
          <a:solidFill>
            <a:srgbClr val="D6D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2800" y="4368795"/>
            <a:ext cx="10566400" cy="69037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65000"/>
              </a:lnSpc>
            </a:pPr>
            <a:r>
              <a:rPr sz="1500" b="0" i="0">
                <a:solidFill>
                  <a:srgbClr val="344358"/>
                </a:solidFill>
                <a:latin typeface="Arial"/>
                <a:ea typeface="微软雅黑"/>
              </a:rPr>
              <a:t>接口职责明确，但未提供具体URL或代码，视为架构设计，不视为已实现细节。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rect"/>
          <p:cNvSpPr/>
          <p:nvPr/>
        </p:nvSpPr>
        <p:spPr>
          <a:xfrm>
            <a:off x="0" y="0"/>
            <a:ext cx="1706880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0400" y="533400"/>
            <a:ext cx="10871200" cy="6190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</a:pPr>
            <a:r>
              <a:rPr sz="3400" b="0" i="0">
                <a:solidFill>
                  <a:srgbClr val="132033"/>
                </a:solidFill>
                <a:latin typeface="Arial"/>
                <a:ea typeface="微软雅黑"/>
              </a:rPr>
              <a:t>搜索策略：关键词匹配的取舍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400" y="1355628"/>
            <a:ext cx="10871200" cy="38178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228600" indent="-228600">
              <a:lnSpc>
                <a:spcPct val="162000"/>
              </a:lnSpc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关键词匹配使结果可解释，便于定位问题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语义检索作为备选方向，尚未实施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当前方案可能遗漏同义表述（如“校园卡”与“学生卡”）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未对比关键词与语义搜索的准确率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rect"/>
          <p:cNvSpPr/>
          <p:nvPr/>
        </p:nvSpPr>
        <p:spPr>
          <a:xfrm>
            <a:off x="0" y="0"/>
            <a:ext cx="1706880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0400" y="533400"/>
            <a:ext cx="10871200" cy="6953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</a:pPr>
            <a:r>
              <a:rPr sz="3400" b="0" i="0">
                <a:solidFill>
                  <a:srgbClr val="132033"/>
                </a:solidFill>
                <a:latin typeface="Arial"/>
                <a:ea typeface="微软雅黑"/>
              </a:rPr>
              <a:t>状态处理与人工核验机制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0400" y="1431925"/>
            <a:ext cx="2565400" cy="4867275"/>
          </a:xfrm>
          <a:prstGeom prst="roundRect">
            <a:avLst>
              <a:gd name="adj" fmla="val 396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2800" y="1584325"/>
            <a:ext cx="2260600" cy="4562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45000"/>
              </a:lnSpc>
            </a:pPr>
            <a:r>
              <a:rPr sz="1900" b="1" i="0">
                <a:solidFill>
                  <a:srgbClr val="344358"/>
                </a:solidFill>
                <a:latin typeface="Segoe UI Emoji"/>
                <a:ea typeface="Segoe UI Emoji"/>
                <a:cs typeface="Segoe UI Emoji"/>
              </a:rPr>
              <a:t>🔍</a:t>
            </a:r>
            <a:r>
              <a:rPr sz="1900" b="1" i="0">
                <a:solidFill>
                  <a:srgbClr val="344358"/>
                </a:solidFill>
                <a:latin typeface="Arial"/>
                <a:ea typeface="微软雅黑"/>
              </a:rPr>
              <a:t> 状态分类</a:t>
            </a:r>
          </a:p>
          <a:p>
            <a:pPr>
              <a:lnSpc>
                <a:spcPct val="165000"/>
              </a:lnSpc>
              <a:spcBef>
                <a:spcPts val="600"/>
              </a:spcBef>
            </a:pPr>
            <a:r>
              <a:rPr sz="1500" b="0" i="0">
                <a:solidFill>
                  <a:srgbClr val="344358"/>
                </a:solidFill>
                <a:latin typeface="Arial"/>
                <a:ea typeface="微软雅黑"/>
              </a:rPr>
              <a:t>记录分为待认领与已认领，所有状态更新需人工核验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431925"/>
            <a:ext cx="2565400" cy="4867275"/>
          </a:xfrm>
          <a:prstGeom prst="roundRect">
            <a:avLst>
              <a:gd name="adj" fmla="val 396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81400" y="1584325"/>
            <a:ext cx="2260600" cy="4562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45000"/>
              </a:lnSpc>
            </a:pPr>
            <a:r>
              <a:rPr sz="1900" b="1" i="0">
                <a:solidFill>
                  <a:srgbClr val="344358"/>
                </a:solidFill>
                <a:latin typeface="Segoe UI Emoji"/>
                <a:ea typeface="Segoe UI Emoji"/>
                <a:cs typeface="Segoe UI Emoji"/>
              </a:rPr>
              <a:t>🔄</a:t>
            </a:r>
            <a:r>
              <a:rPr sz="1900" b="1" i="0">
                <a:solidFill>
                  <a:srgbClr val="344358"/>
                </a:solidFill>
                <a:latin typeface="Arial"/>
                <a:ea typeface="微软雅黑"/>
              </a:rPr>
              <a:t> 重复发布处理</a:t>
            </a:r>
          </a:p>
          <a:p>
            <a:pPr>
              <a:lnSpc>
                <a:spcPct val="165000"/>
              </a:lnSpc>
              <a:spcBef>
                <a:spcPts val="600"/>
              </a:spcBef>
            </a:pPr>
            <a:r>
              <a:rPr sz="1500" b="0" i="0">
                <a:solidFill>
                  <a:srgbClr val="344358"/>
                </a:solidFill>
                <a:latin typeface="Arial"/>
                <a:ea typeface="微软雅黑"/>
              </a:rPr>
              <a:t>目前由人工识别并合并重复记录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75400" y="1609725"/>
            <a:ext cx="4978400" cy="1165225"/>
          </a:xfrm>
          <a:prstGeom prst="rect">
            <a:avLst/>
          </a:prstGeom>
          <a:noFill/>
        </p:spPr>
        <p:txBody>
          <a:bodyPr wrap="square" anchor="t" lIns="0" rIns="0" tIns="0" bIns="0">
            <a:normAutofit fontScale="100000" lnSpcReduction="8433"/>
          </a:bodyPr>
          <a:lstStyle/>
          <a:p>
            <a:pPr>
              <a:lnSpc>
                <a:spcPct val="110000"/>
              </a:lnSpc>
            </a:pPr>
            <a:r>
              <a:rPr sz="4600" b="0" i="0">
                <a:solidFill>
                  <a:srgbClr val="1D4ED8"/>
                </a:solidFill>
                <a:latin typeface="Arial"/>
                <a:ea typeface="微软雅黑"/>
              </a:rPr>
              <a:t>未验证</a:t>
            </a:r>
          </a:p>
          <a:p>
            <a:pPr>
              <a:lnSpc>
                <a:spcPct val="140000"/>
              </a:lnSpc>
              <a:spcBef>
                <a:spcPts val="600"/>
              </a:spcBef>
            </a:pPr>
            <a:r>
              <a:rPr sz="1400" b="1" i="0">
                <a:solidFill>
                  <a:srgbClr val="132033"/>
                </a:solidFill>
                <a:latin typeface="Arial"/>
                <a:ea typeface="微软雅黑"/>
              </a:rPr>
              <a:t>并发更新冲突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sz="1200" b="0" i="0">
                <a:solidFill>
                  <a:srgbClr val="59687B"/>
                </a:solidFill>
                <a:latin typeface="Arial"/>
                <a:ea typeface="微软雅黑"/>
              </a:rPr>
              <a:t>多终端同时认领时状态一致性未测试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75400" y="3282950"/>
            <a:ext cx="4978400" cy="1165225"/>
          </a:xfrm>
          <a:prstGeom prst="rect">
            <a:avLst/>
          </a:prstGeom>
          <a:noFill/>
        </p:spPr>
        <p:txBody>
          <a:bodyPr wrap="square" anchor="t" lIns="0" rIns="0" tIns="0" bIns="0">
            <a:normAutofit fontScale="100000" lnSpcReduction="8433"/>
          </a:bodyPr>
          <a:lstStyle/>
          <a:p>
            <a:pPr>
              <a:lnSpc>
                <a:spcPct val="110000"/>
              </a:lnSpc>
            </a:pPr>
            <a:r>
              <a:rPr sz="4600" b="0" i="0">
                <a:solidFill>
                  <a:srgbClr val="1D4ED8"/>
                </a:solidFill>
                <a:latin typeface="Arial"/>
                <a:ea typeface="微软雅黑"/>
              </a:rPr>
              <a:t>未验证</a:t>
            </a:r>
          </a:p>
          <a:p>
            <a:pPr>
              <a:lnSpc>
                <a:spcPct val="140000"/>
              </a:lnSpc>
              <a:spcBef>
                <a:spcPts val="600"/>
              </a:spcBef>
            </a:pPr>
            <a:r>
              <a:rPr sz="1400" b="1" i="0">
                <a:solidFill>
                  <a:srgbClr val="132033"/>
                </a:solidFill>
                <a:latin typeface="Arial"/>
                <a:ea typeface="微软雅黑"/>
              </a:rPr>
              <a:t>误操作恢复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sz="1200" b="0" i="0">
                <a:solidFill>
                  <a:srgbClr val="59687B"/>
                </a:solidFill>
                <a:latin typeface="Arial"/>
                <a:ea typeface="微软雅黑"/>
              </a:rPr>
              <a:t>用户误标记已认领后无法自动撤回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5400" y="4956175"/>
            <a:ext cx="4978400" cy="1165225"/>
          </a:xfrm>
          <a:prstGeom prst="rect">
            <a:avLst/>
          </a:prstGeom>
          <a:noFill/>
        </p:spPr>
        <p:txBody>
          <a:bodyPr wrap="square" anchor="t" lIns="0" rIns="0" tIns="0" bIns="0">
            <a:normAutofit fontScale="100000" lnSpcReduction="8433"/>
          </a:bodyPr>
          <a:lstStyle/>
          <a:p>
            <a:pPr>
              <a:lnSpc>
                <a:spcPct val="110000"/>
              </a:lnSpc>
            </a:pPr>
            <a:r>
              <a:rPr sz="4600" b="0" i="0">
                <a:solidFill>
                  <a:srgbClr val="1D4ED8"/>
                </a:solidFill>
                <a:latin typeface="Arial"/>
                <a:ea typeface="微软雅黑"/>
              </a:rPr>
              <a:t>未验证</a:t>
            </a:r>
          </a:p>
          <a:p>
            <a:pPr>
              <a:lnSpc>
                <a:spcPct val="140000"/>
              </a:lnSpc>
              <a:spcBef>
                <a:spcPts val="600"/>
              </a:spcBef>
            </a:pPr>
            <a:r>
              <a:rPr sz="1400" b="1" i="0">
                <a:solidFill>
                  <a:srgbClr val="132033"/>
                </a:solidFill>
                <a:latin typeface="Arial"/>
                <a:ea typeface="微软雅黑"/>
              </a:rPr>
              <a:t>恶意认领防护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sz="1200" b="0" i="0">
                <a:solidFill>
                  <a:srgbClr val="59687B"/>
                </a:solidFill>
                <a:latin typeface="Arial"/>
                <a:ea typeface="微软雅黑"/>
              </a:rPr>
              <a:t>无机制防止非失主认领物品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rect"/>
          <p:cNvSpPr/>
          <p:nvPr/>
        </p:nvSpPr>
        <p:spPr>
          <a:xfrm>
            <a:off x="0" y="0"/>
            <a:ext cx="1706880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0400" y="533400"/>
            <a:ext cx="10871200" cy="6190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</a:pPr>
            <a:r>
              <a:rPr sz="3400" b="0" i="0">
                <a:solidFill>
                  <a:srgbClr val="132033"/>
                </a:solidFill>
                <a:latin typeface="Arial"/>
                <a:ea typeface="微软雅黑"/>
              </a:rPr>
              <a:t>数据边界与隐私考量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400" y="1355628"/>
            <a:ext cx="10871200" cy="251680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228600" indent="-228600">
              <a:lnSpc>
                <a:spcPct val="165000"/>
              </a:lnSpc>
              <a:buClr>
                <a:srgbClr val="1D4ED8"/>
              </a:buClr>
              <a:buFont typeface="Arial"/>
              <a:buChar char="—"/>
            </a:pPr>
            <a:r>
              <a:rPr sz="1500" b="0" i="0">
                <a:solidFill>
                  <a:srgbClr val="344358"/>
                </a:solidFill>
                <a:latin typeface="Arial"/>
                <a:ea typeface="微软雅黑"/>
              </a:rPr>
              <a:t>测试集使用虚构物品，不保存真实姓名、手机号或身份凭证</a:t>
            </a:r>
          </a:p>
          <a:p>
            <a:pPr marL="228600" indent="-228600">
              <a:lnSpc>
                <a:spcPct val="165000"/>
              </a:lnSpc>
              <a:spcBef>
                <a:spcPts val="1200"/>
              </a:spcBef>
              <a:buClr>
                <a:srgbClr val="1D4ED8"/>
              </a:buClr>
              <a:buFont typeface="Arial"/>
              <a:buChar char="—"/>
            </a:pPr>
            <a:r>
              <a:rPr sz="1500" b="0" i="0">
                <a:solidFill>
                  <a:srgbClr val="344358"/>
                </a:solidFill>
                <a:latin typeface="Arial"/>
                <a:ea typeface="微软雅黑"/>
              </a:rPr>
              <a:t>真实部署前需明确隐私说明、数据保留规则及删除流程</a:t>
            </a:r>
          </a:p>
          <a:p>
            <a:pPr marL="228600" indent="-228600">
              <a:lnSpc>
                <a:spcPct val="165000"/>
              </a:lnSpc>
              <a:spcBef>
                <a:spcPts val="1200"/>
              </a:spcBef>
              <a:buClr>
                <a:srgbClr val="1D4ED8"/>
              </a:buClr>
              <a:buFont typeface="Arial"/>
              <a:buChar char="—"/>
            </a:pPr>
            <a:r>
              <a:rPr sz="1500" b="0" i="0">
                <a:solidFill>
                  <a:srgbClr val="344358"/>
                </a:solidFill>
                <a:latin typeface="Arial"/>
                <a:ea typeface="微软雅黑"/>
              </a:rPr>
              <a:t>上述流程尚未完成验收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0400" y="4075630"/>
            <a:ext cx="10871200" cy="1097842"/>
          </a:xfrm>
          <a:prstGeom prst="roundRect">
            <a:avLst>
              <a:gd name="adj" fmla="val 9254"/>
            </a:avLst>
          </a:prstGeom>
          <a:solidFill>
            <a:srgbClr val="D6D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2800" y="4189930"/>
            <a:ext cx="10566400" cy="86924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65000"/>
              </a:lnSpc>
            </a:pPr>
            <a:r>
              <a:rPr sz="1500" b="0" i="0">
                <a:solidFill>
                  <a:srgbClr val="344358"/>
                </a:solidFill>
                <a:latin typeface="Arial"/>
                <a:ea typeface="微软雅黑"/>
              </a:rPr>
              <a:t>隐私策略的完整性——包括数据删除机制——尚未经过验收，是待验证的边界。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rect"/>
          <p:cNvSpPr/>
          <p:nvPr/>
        </p:nvSpPr>
        <p:spPr>
          <a:xfrm>
            <a:off x="0" y="0"/>
            <a:ext cx="1706880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0400" y="533400"/>
            <a:ext cx="10871200" cy="6190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</a:pPr>
            <a:r>
              <a:rPr sz="3400" b="0" i="0">
                <a:solidFill>
                  <a:srgbClr val="132033"/>
                </a:solidFill>
                <a:latin typeface="Arial"/>
                <a:ea typeface="微软雅黑"/>
              </a:rPr>
              <a:t>功能验证设计与本地观察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400" y="1355628"/>
            <a:ext cx="5334000" cy="3169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228600" indent="-228600">
              <a:lnSpc>
                <a:spcPct val="162000"/>
              </a:lnSpc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本地构造12条物品记录：待认领8条，已认领4条；证件4条、电子设备3条、日用品5条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本地检查验证了发布后可见、关键词检索、状态标签正确显示；无逐条通过率与请求耗时数据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197600" y="1355628"/>
          <a:ext cx="5334000" cy="316992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778000"/>
                <a:gridCol w="1778000"/>
                <a:gridCol w="1778000"/>
              </a:tblGrid>
              <a:tr h="52832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32033"/>
                          </a:solidFill>
                          <a:latin typeface="Arial"/>
                          <a:ea typeface="微软雅黑"/>
                        </a:rPr>
                        <a:t>测试项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>
                      <a:solidFill>
                        <a:srgbClr val="1D4ED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32033"/>
                          </a:solidFill>
                          <a:latin typeface="Arial"/>
                          <a:ea typeface="微软雅黑"/>
                        </a:rPr>
                        <a:t>结果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>
                      <a:solidFill>
                        <a:srgbClr val="1D4ED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32033"/>
                          </a:solidFill>
                          <a:latin typeface="Arial"/>
                          <a:ea typeface="微软雅黑"/>
                        </a:rPr>
                        <a:t>备注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>
                      <a:solidFill>
                        <a:srgbClr val="1D4ED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44358"/>
                          </a:solidFill>
                          <a:latin typeface="Arial"/>
                          <a:ea typeface="微软雅黑"/>
                        </a:rPr>
                        <a:t>发布后可见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44358"/>
                          </a:solidFill>
                          <a:latin typeface="Arial"/>
                          <a:ea typeface="微软雅黑"/>
                        </a:rPr>
                        <a:t>通过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44358"/>
                          </a:solidFill>
                          <a:latin typeface="Arial"/>
                          <a:ea typeface="微软雅黑"/>
                        </a:rPr>
                        <a:t>12条记录均可在列表页查看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44358"/>
                          </a:solidFill>
                          <a:latin typeface="Arial"/>
                          <a:ea typeface="微软雅黑"/>
                        </a:rPr>
                        <a:t>关键词检索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44358"/>
                          </a:solidFill>
                          <a:latin typeface="Arial"/>
                          <a:ea typeface="微软雅黑"/>
                        </a:rPr>
                        <a:t>通过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44358"/>
                          </a:solidFill>
                          <a:latin typeface="Arial"/>
                          <a:ea typeface="微软雅黑"/>
                        </a:rPr>
                        <a:t>按"学生证"检索返回对应记录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44358"/>
                          </a:solidFill>
                          <a:latin typeface="Arial"/>
                          <a:ea typeface="微软雅黑"/>
                        </a:rPr>
                        <a:t>状态标签显示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44358"/>
                          </a:solidFill>
                          <a:latin typeface="Arial"/>
                          <a:ea typeface="微软雅黑"/>
                        </a:rPr>
                        <a:t>通过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44358"/>
                          </a:solidFill>
                          <a:latin typeface="Arial"/>
                          <a:ea typeface="微软雅黑"/>
                        </a:rPr>
                        <a:t>待认领/已认领标签与数据一致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44358"/>
                          </a:solidFill>
                          <a:latin typeface="Arial"/>
                          <a:ea typeface="微软雅黑"/>
                        </a:rPr>
                        <a:t>空结果提示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44358"/>
                          </a:solidFill>
                          <a:latin typeface="Arial"/>
                          <a:ea typeface="微软雅黑"/>
                        </a:rPr>
                        <a:t>通过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44358"/>
                          </a:solidFill>
                          <a:latin typeface="Arial"/>
                          <a:ea typeface="微软雅黑"/>
                        </a:rPr>
                        <a:t>无匹配查询时显示空结果页面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44358"/>
                          </a:solidFill>
                          <a:latin typeface="Arial"/>
                          <a:ea typeface="微软雅黑"/>
                        </a:rPr>
                        <a:t>超长输入/特殊字符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44358"/>
                          </a:solidFill>
                          <a:latin typeface="Arial"/>
                          <a:ea typeface="微软雅黑"/>
                        </a:rPr>
                        <a:t>未测试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44358"/>
                          </a:solidFill>
                          <a:latin typeface="Arial"/>
                          <a:ea typeface="微软雅黑"/>
                        </a:rPr>
                        <a:t>待补充边界测试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60400" y="4728748"/>
            <a:ext cx="10871200" cy="609600"/>
          </a:xfrm>
          <a:prstGeom prst="roundRect">
            <a:avLst>
              <a:gd name="adj" fmla="val 16666"/>
            </a:avLst>
          </a:prstGeom>
          <a:solidFill>
            <a:srgbClr val="D6D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2800" y="4843048"/>
            <a:ext cx="10566400" cy="381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65000"/>
              </a:lnSpc>
            </a:pPr>
            <a:r>
              <a:rPr sz="1500" b="0" i="0">
                <a:solidFill>
                  <a:srgbClr val="344358"/>
                </a:solidFill>
                <a:latin typeface="Arial"/>
                <a:ea typeface="微软雅黑"/>
              </a:rPr>
              <a:t>超长输入、特殊字符和异常网络情况仍需补充测试。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rect"/>
          <p:cNvSpPr/>
          <p:nvPr/>
        </p:nvSpPr>
        <p:spPr>
          <a:xfrm>
            <a:off x="0" y="0"/>
            <a:ext cx="1706880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0400" y="533400"/>
            <a:ext cx="10871200" cy="6190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</a:pPr>
            <a:r>
              <a:rPr sz="3400" b="0" i="0">
                <a:solidFill>
                  <a:srgbClr val="132033"/>
                </a:solidFill>
                <a:latin typeface="Arial"/>
                <a:ea typeface="微软雅黑"/>
              </a:rPr>
              <a:t>已知风险与证据缺口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400" y="1355628"/>
            <a:ext cx="10871200" cy="2919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228600" indent="-228600">
              <a:lnSpc>
                <a:spcPct val="165000"/>
              </a:lnSpc>
              <a:buClr>
                <a:srgbClr val="1D4ED8"/>
              </a:buClr>
              <a:buFont typeface="Arial"/>
              <a:buChar char="—"/>
            </a:pPr>
            <a:r>
              <a:rPr sz="1500" b="0" i="0">
                <a:solidFill>
                  <a:srgbClr val="344358"/>
                </a:solidFill>
                <a:latin typeface="Arial"/>
                <a:ea typeface="微软雅黑"/>
              </a:rPr>
              <a:t>描述不完整：用户可能对同一物品使用不同称呼</a:t>
            </a:r>
          </a:p>
          <a:p>
            <a:pPr marL="228600" indent="-228600">
              <a:lnSpc>
                <a:spcPct val="165000"/>
              </a:lnSpc>
              <a:spcBef>
                <a:spcPts val="1200"/>
              </a:spcBef>
              <a:buClr>
                <a:srgbClr val="1D4ED8"/>
              </a:buClr>
              <a:buFont typeface="Arial"/>
              <a:buChar char="—"/>
            </a:pPr>
            <a:r>
              <a:rPr sz="1500" b="0" i="0">
                <a:solidFill>
                  <a:srgbClr val="344358"/>
                </a:solidFill>
                <a:latin typeface="Arial"/>
                <a:ea typeface="微软雅黑"/>
              </a:rPr>
              <a:t>状态滞后：已认领物品状态更新可能不及时</a:t>
            </a:r>
          </a:p>
          <a:p>
            <a:pPr marL="228600" indent="-228600">
              <a:lnSpc>
                <a:spcPct val="165000"/>
              </a:lnSpc>
              <a:spcBef>
                <a:spcPts val="1200"/>
              </a:spcBef>
              <a:buClr>
                <a:srgbClr val="1D4ED8"/>
              </a:buClr>
              <a:buFont typeface="Arial"/>
              <a:buChar char="—"/>
            </a:pPr>
            <a:r>
              <a:rPr sz="1500" b="0" i="0">
                <a:solidFill>
                  <a:srgbClr val="344358"/>
                </a:solidFill>
                <a:latin typeface="Arial"/>
                <a:ea typeface="微软雅黑"/>
              </a:rPr>
              <a:t>重复记录：同一物品多次发布可能影响判断准确性</a:t>
            </a:r>
          </a:p>
          <a:p>
            <a:pPr marL="228600" indent="-228600">
              <a:lnSpc>
                <a:spcPct val="165000"/>
              </a:lnSpc>
              <a:spcBef>
                <a:spcPts val="1200"/>
              </a:spcBef>
              <a:buClr>
                <a:srgbClr val="1D4ED8"/>
              </a:buClr>
              <a:buFont typeface="Arial"/>
              <a:buChar char="—"/>
            </a:pPr>
            <a:r>
              <a:rPr sz="1500" b="0" i="0">
                <a:solidFill>
                  <a:srgbClr val="344358"/>
                </a:solidFill>
                <a:latin typeface="Arial"/>
                <a:ea typeface="微软雅黑"/>
              </a:rPr>
              <a:t>误判风险：人工认领核验可能发生误判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400" y="4478348"/>
            <a:ext cx="10871200" cy="6951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65000"/>
              </a:lnSpc>
            </a:pPr>
            <a:r>
              <a:rPr sz="1500" b="0" i="0">
                <a:solidFill>
                  <a:srgbClr val="344358"/>
                </a:solidFill>
                <a:latin typeface="Arial"/>
                <a:ea typeface="微软雅黑"/>
              </a:rPr>
              <a:t>上述风险暂无真实发生频率或损失数据支撑，属于待验证边界。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rect"/>
          <p:cNvSpPr/>
          <p:nvPr/>
        </p:nvSpPr>
        <p:spPr>
          <a:xfrm>
            <a:off x="0" y="0"/>
            <a:ext cx="1706880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0400" y="533400"/>
            <a:ext cx="10871200" cy="6190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</a:pPr>
            <a:r>
              <a:rPr sz="3400" b="0" i="0">
                <a:solidFill>
                  <a:srgbClr val="132033"/>
                </a:solidFill>
                <a:latin typeface="Arial"/>
                <a:ea typeface="微软雅黑"/>
              </a:rPr>
              <a:t>阶段性结论与评审讨论建议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400" y="1355628"/>
            <a:ext cx="10871200" cy="2765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228600" indent="-228600">
              <a:lnSpc>
                <a:spcPct val="162000"/>
              </a:lnSpc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已连接发布、检索和状态展示的基本流程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本地虚构数据可用于演示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真实用户价值、规模化性能及完整安全性仍待验证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进一步决策需要真实使用反馈与异常场景测试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0400" y="4324805"/>
            <a:ext cx="10871200" cy="848667"/>
          </a:xfrm>
          <a:prstGeom prst="roundRect">
            <a:avLst>
              <a:gd name="adj" fmla="val 11971"/>
            </a:avLst>
          </a:prstGeom>
          <a:solidFill>
            <a:srgbClr val="D6D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2800" y="4439105"/>
            <a:ext cx="10566400" cy="62006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65000"/>
              </a:lnSpc>
            </a:pPr>
            <a:r>
              <a:rPr sz="1500" b="0" i="0">
                <a:solidFill>
                  <a:srgbClr val="344358"/>
                </a:solidFill>
                <a:latin typeface="Arial"/>
                <a:ea typeface="微软雅黑"/>
              </a:rPr>
              <a:t>建议评审重点讨论：原型取舍是否合理？未验证边界（并发、恶意认领、同义遗漏）的优先级如何？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