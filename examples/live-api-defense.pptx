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各位老师好，今天我要汇报的是校园失物招领项目的API验收。这是一个虚构案例，仅用于验证软件功能。目前校园失物信息散落在各个群聊中，查找非常不便，因此我们需要一个统一的平台来解决这个问题。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校园失物信息分散在多个群聊</a:t>
            </a:r>
          </a:p>
          <a:p>
            <a:r>
              <a:t>[S1:2] 粘贴材料 第 2 段：校园失物信息分散在多个群聊</a:t>
            </a:r>
          </a:p>
          <a:p>
            <a:r>
              <a:t>查找需人工翻阅消息，无统一入口</a:t>
            </a:r>
          </a:p>
          <a:p>
            <a:r>
              <a:t>[S1:2] 粘贴材料 第 2 段：查找需要人工翻阅消息</a:t>
            </a:r>
          </a:p>
          <a:p>
            <a:r>
              <a:t>该项目是虚构案例，仅用于验证软件</a:t>
            </a:r>
          </a:p>
          <a:p>
            <a:r>
              <a:t>[S1:1] 粘贴材料 第 1 段：以下为虚构测试案例，仅用于验证软件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目前校园失物信息散落在多个群聊，同学们要手动翻阅才能找到丢失物品。发布没有统一入口，物品分类和认领状态也不清晰，这些是我们要解决的核心痛点。具体数据还需要进一步调研补充。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失物发布缺少统一入口</a:t>
            </a:r>
          </a:p>
          <a:p>
            <a:r>
              <a:t>[S1:3] 粘贴材料 第 3 段：发布记录缺少统一入口</a:t>
            </a:r>
          </a:p>
          <a:p>
            <a:r>
              <a:t>物品分类与认领状态不明确</a:t>
            </a:r>
          </a:p>
          <a:p>
            <a:r>
              <a:t>[S1:3] 粘贴材料 第 3 段：物品分类与认领状态不明确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这是我们设计的方案核心：提供失物发布、分类筛选和关键词搜索。我的分工包括页面开发和搜索接口。但图片相似度搜索还未实现，本地测试的具体数据和验证结果还需要补充。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方案：失物发布、分类筛选、关键词搜索和认领状态更新</a:t>
            </a:r>
          </a:p>
          <a:p>
            <a:r>
              <a:t>[S1:4] 粘贴材料 第 4 段：提供失物发布、分类筛选、关键词搜索和认领状态更新</a:t>
            </a:r>
          </a:p>
          <a:p>
            <a:r>
              <a:t>未实现图片相似度搜索</a:t>
            </a:r>
          </a:p>
          <a:p>
            <a:r>
              <a:t>[S1:4] 粘贴材料 第 4 段：未实现图片相似度搜索</a:t>
            </a:r>
          </a:p>
          <a:p>
            <a:r>
              <a:t>个人分工：页面开发、搜索接口与本地测试</a:t>
            </a:r>
          </a:p>
          <a:p>
            <a:r>
              <a:t>[S1:5] 粘贴材料 第 5 段：个人分工为页面开发、搜索接口与本地测试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本页介绍项目的技术架构：前端使用 React，后端使用 FastAPI，数据层采用 PostgreSQL。我主要负责前端页面开发、后端搜索接口实现以及本地测试工作。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前端采用React</a:t>
            </a:r>
          </a:p>
          <a:p>
            <a:r>
              <a:t>[S1:5] 粘贴材料 第 5 段：前端采用React</a:t>
            </a:r>
          </a:p>
          <a:p>
            <a:r>
              <a:t>后端采用FastAPI</a:t>
            </a:r>
          </a:p>
          <a:p>
            <a:r>
              <a:t>[S1:5] 粘贴材料 第 5 段：后端采用FastAPI</a:t>
            </a:r>
          </a:p>
          <a:p>
            <a:r>
              <a:t>数据保存在PostgreSQL</a:t>
            </a:r>
          </a:p>
          <a:p>
            <a:r>
              <a:t>[S1:5] 粘贴材料 第 5 段：数据保存在PostgreSQL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基于12条虚构记录完成了发布和关键词检索验证，其中8条待认领、4条已认领。目前缺少真实用户测试，效率数据待补充。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用12条虚构物品记录验证发布和关键词检索</a:t>
            </a:r>
          </a:p>
          <a:p>
            <a:r>
              <a:t>[S1:6] 粘贴材料 第 6 段：在本地用12条虚构物品记录验证发布和关键词检索</a:t>
            </a:r>
          </a:p>
          <a:p>
            <a:r>
              <a:t>8条标为待认领，4条标为已认领</a:t>
            </a:r>
          </a:p>
          <a:p>
            <a:r>
              <a:t>[S1:6] 粘贴材料 第 6 段：其中8条记录标为待认领、4条标为已认领</a:t>
            </a:r>
          </a:p>
          <a:p>
            <a:r>
              <a:t>没有真实用户测试，无效率提升比例</a:t>
            </a:r>
          </a:p>
          <a:p>
            <a:r>
              <a:t>[S1:6] 粘贴材料 第 6 段：没有真实用户测试，也没有效率提升比例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目前系统在认领环节依赖人工确认，这是已知不足。我们计划补充异常输入测试和可用性测试，但目前尚未获得真实用户反馈数据，后续需补充这部分材料以完善评估。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认领身份仍需人工确认</a:t>
            </a:r>
          </a:p>
          <a:p>
            <a:r>
              <a:t>[S1:7] 粘贴材料 第 7 段：认领身份仍需人工确认</a:t>
            </a:r>
          </a:p>
          <a:p>
            <a:r>
              <a:t>缺少异常输入测试和用户可用性测试</a:t>
            </a:r>
          </a:p>
          <a:p>
            <a:r>
              <a:t>[S1:7] 粘贴材料 第 7 段：下一步计划补充异常输入测试和用户可用性测试，尚未实施</a:t>
            </a:r>
          </a:p>
          <a:p>
            <a:r>
              <a:t>【待补充】需补充真实用户反馈数据 — 待补充依据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rect"/>
          <p:cNvSpPr/>
          <p:nvPr/>
        </p:nvSpPr>
        <p:spPr>
          <a:xfrm>
            <a:off x="10871200" y="6591300"/>
            <a:ext cx="1066800" cy="12700"/>
          </a:xfrm>
          <a:prstGeom prst="rect">
            <a:avLst/>
          </a:prstGeom>
          <a:solidFill>
            <a:srgbClr val="E2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mbient-rect"/>
          <p:cNvSpPr/>
          <p:nvPr/>
        </p:nvSpPr>
        <p:spPr>
          <a:xfrm>
            <a:off x="11925300" y="5537200"/>
            <a:ext cx="12700" cy="1066800"/>
          </a:xfrm>
          <a:prstGeom prst="rect">
            <a:avLst/>
          </a:prstGeom>
          <a:solidFill>
            <a:srgbClr val="E2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400" y="1878855"/>
            <a:ext cx="5334000" cy="12380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真实 API 验收 · 校园失物招领（虚构案例）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7600" y="1878855"/>
            <a:ext cx="5334000" cy="12380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4A463E"/>
                </a:solidFill>
                <a:latin typeface="Arial"/>
                <a:ea typeface="微软雅黑"/>
              </a:rPr>
              <a:t>以下为虚构测试案例，仅用于验证软件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400" y="3421712"/>
            <a:ext cx="10871200" cy="8747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5000"/>
              </a:lnSpc>
              <a:buClr>
                <a:srgbClr val="B4432B"/>
              </a:buClr>
              <a:buFont typeface="Arial"/>
              <a:buChar char="—"/>
            </a:pPr>
            <a:r>
              <a:rPr sz="1500" b="0" i="0">
                <a:solidFill>
                  <a:srgbClr val="4A463E"/>
                </a:solidFill>
                <a:latin typeface="Arial"/>
                <a:ea typeface="微软雅黑"/>
              </a:rPr>
              <a:t>校园失物信息分散在多个群聊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500" b="0" i="0">
                <a:solidFill>
                  <a:srgbClr val="4A463E"/>
                </a:solidFill>
                <a:latin typeface="Arial"/>
                <a:ea typeface="微软雅黑"/>
              </a:rPr>
              <a:t>查找需人工翻阅消息，无统一入口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text"/>
          <p:cNvSpPr txBox="1"/>
          <p:nvPr/>
        </p:nvSpPr>
        <p:spPr>
          <a:xfrm>
            <a:off x="9144000" y="5486400"/>
            <a:ext cx="2926080" cy="13030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800" b="0">
                <a:solidFill>
                  <a:srgbClr val="E9E4DA"/>
                </a:solidFill>
                <a:latin typeface="Georgia"/>
                <a:ea typeface="宋体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背景与问题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00" y="4025320"/>
            <a:ext cx="5334000" cy="11481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4A463E"/>
                </a:solidFill>
                <a:latin typeface="Arial"/>
                <a:ea typeface="微软雅黑"/>
              </a:rPr>
              <a:t>校园失物信息分散在多个群聊，查找需要人工翻阅消息。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533428"/>
            <a:ext cx="3132667" cy="21108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4600" b="0" i="0">
                <a:solidFill>
                  <a:srgbClr val="B4432B"/>
                </a:solidFill>
                <a:latin typeface="Georgia"/>
                <a:ea typeface="宋体"/>
              </a:rPr>
              <a:t>—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400" b="1" i="0">
                <a:solidFill>
                  <a:srgbClr val="1A1917"/>
                </a:solidFill>
                <a:latin typeface="Arial"/>
                <a:ea typeface="微软雅黑"/>
              </a:rPr>
              <a:t>当前日均失物发布渠道数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00" b="0" i="0">
                <a:solidFill>
                  <a:srgbClr val="8A8478"/>
                </a:solidFill>
                <a:latin typeface="Arial"/>
                <a:ea typeface="微软雅黑"/>
              </a:rPr>
              <a:t>【待补充：精确数字】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9667" y="1533428"/>
            <a:ext cx="3132667" cy="21108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4600" b="0" i="0">
                <a:solidFill>
                  <a:srgbClr val="B4432B"/>
                </a:solidFill>
                <a:latin typeface="Georgia"/>
                <a:ea typeface="宋体"/>
              </a:rPr>
              <a:t>—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400" b="1" i="0">
                <a:solidFill>
                  <a:srgbClr val="1A1917"/>
                </a:solidFill>
                <a:latin typeface="Arial"/>
                <a:ea typeface="微软雅黑"/>
              </a:rPr>
              <a:t>手动查找平均耗时(分钟)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00" b="0" i="0">
                <a:solidFill>
                  <a:srgbClr val="8A8478"/>
                </a:solidFill>
                <a:latin typeface="Arial"/>
                <a:ea typeface="微软雅黑"/>
              </a:rPr>
              <a:t>【待补充：用户调研数据】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1133" y="1533428"/>
            <a:ext cx="3132667" cy="21108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4600" b="0" i="0">
                <a:solidFill>
                  <a:srgbClr val="B4432B"/>
                </a:solidFill>
                <a:latin typeface="Georgia"/>
                <a:ea typeface="宋体"/>
              </a:rPr>
              <a:t>—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400" b="1" i="0">
                <a:solidFill>
                  <a:srgbClr val="1A1917"/>
                </a:solidFill>
                <a:latin typeface="Arial"/>
                <a:ea typeface="微软雅黑"/>
              </a:rPr>
              <a:t>认领状态明确率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00" b="0" i="0">
                <a:solidFill>
                  <a:srgbClr val="8A8478"/>
                </a:solidFill>
                <a:latin typeface="Arial"/>
                <a:ea typeface="微软雅黑"/>
              </a:rPr>
              <a:t>【待补充：现状统计】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7600" y="4025320"/>
            <a:ext cx="5334000" cy="11481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发布记录缺少统一入口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物品分类与认领状态不明确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text"/>
          <p:cNvSpPr txBox="1"/>
          <p:nvPr/>
        </p:nvSpPr>
        <p:spPr>
          <a:xfrm>
            <a:off x="9144000" y="5486400"/>
            <a:ext cx="2926080" cy="13030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800" b="0">
                <a:solidFill>
                  <a:srgbClr val="E9E4DA"/>
                </a:solidFill>
                <a:latin typeface="Georgia"/>
                <a:ea typeface="宋体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7440" y="533400"/>
            <a:ext cx="661416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解决方案与个人贡献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7440" y="1304828"/>
            <a:ext cx="6614160" cy="3919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失物发布、分类筛选、关键词搜索和认领状态更新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未实现图片相似度搜索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个人分工：页面开发、搜索接口与本地测试【待补充：缺少测试用例数、验证结果数据】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0400" y="533400"/>
            <a:ext cx="4053840" cy="5765800"/>
          </a:xfrm>
          <a:prstGeom prst="rect">
            <a:avLst/>
          </a:prstGeom>
          <a:solidFill>
            <a:srgbClr val="F0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44090" y="764032"/>
            <a:ext cx="2270150" cy="1960372"/>
          </a:xfrm>
          <a:prstGeom prst="ellipse">
            <a:avLst/>
          </a:prstGeom>
          <a:solidFill>
            <a:srgbClr val="E3C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30550" y="1109980"/>
            <a:ext cx="1459382" cy="1153160"/>
          </a:xfrm>
          <a:prstGeom prst="ellipse">
            <a:avLst/>
          </a:prstGeom>
          <a:solidFill>
            <a:srgbClr val="DDB0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660400" y="2839720"/>
            <a:ext cx="4053840" cy="3459480"/>
          </a:xfrm>
          <a:custGeom>
            <a:avLst/>
            <a:gdLst/>
            <a:ahLst/>
            <a:cxnLst/>
            <a:rect l="l" t="t" r="r" b="b"/>
            <a:pathLst>
              <a:path w="4053840" h="3459480">
                <a:moveTo>
                  <a:pt x="0" y="2191004"/>
                </a:moveTo>
                <a:lnTo>
                  <a:pt x="1378306" y="691896"/>
                </a:lnTo>
                <a:lnTo>
                  <a:pt x="2351227" y="1729740"/>
                </a:lnTo>
                <a:lnTo>
                  <a:pt x="4053840" y="0"/>
                </a:lnTo>
                <a:lnTo>
                  <a:pt x="4053840" y="3459480"/>
                </a:lnTo>
                <a:lnTo>
                  <a:pt x="0" y="3459480"/>
                </a:lnTo>
                <a:close/>
              </a:path>
            </a:pathLst>
          </a:custGeom>
          <a:solidFill>
            <a:srgbClr val="E6C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84707" y="5491988"/>
            <a:ext cx="729691" cy="6919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6092825" y="0"/>
            <a:ext cx="6350" cy="6858000"/>
          </a:xfrm>
          <a:prstGeom prst="rect">
            <a:avLst/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mbient-text"/>
          <p:cNvSpPr txBox="1"/>
          <p:nvPr/>
        </p:nvSpPr>
        <p:spPr>
          <a:xfrm>
            <a:off x="9144000" y="5486400"/>
            <a:ext cx="2926080" cy="13030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800" b="0">
                <a:solidFill>
                  <a:srgbClr val="E9E4DA"/>
                </a:solidFill>
                <a:latin typeface="Georgia"/>
                <a:ea typeface="宋体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7600" y="533400"/>
            <a:ext cx="53340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实现技术栈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7600" y="1304828"/>
            <a:ext cx="5334000" cy="3919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前端：React（本人负责页面开发与本地测试）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后端：FastAPI（本人负责搜索接口开发与本地测试）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数据库：PostgreSQL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0400" y="533400"/>
            <a:ext cx="5334000" cy="5765800"/>
          </a:xfrm>
          <a:prstGeom prst="rect">
            <a:avLst/>
          </a:prstGeom>
          <a:solidFill>
            <a:srgbClr val="F0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07360" y="764032"/>
            <a:ext cx="2987040" cy="1960372"/>
          </a:xfrm>
          <a:prstGeom prst="ellipse">
            <a:avLst/>
          </a:prstGeom>
          <a:solidFill>
            <a:srgbClr val="E3C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7440" y="1109980"/>
            <a:ext cx="1920240" cy="1153160"/>
          </a:xfrm>
          <a:prstGeom prst="ellipse">
            <a:avLst/>
          </a:prstGeom>
          <a:solidFill>
            <a:srgbClr val="DDB0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660400" y="2839720"/>
            <a:ext cx="5334000" cy="3459480"/>
          </a:xfrm>
          <a:custGeom>
            <a:avLst/>
            <a:gdLst/>
            <a:ahLst/>
            <a:cxnLst/>
            <a:rect l="l" t="t" r="r" b="b"/>
            <a:pathLst>
              <a:path w="5334000" h="3459480">
                <a:moveTo>
                  <a:pt x="0" y="2191004"/>
                </a:moveTo>
                <a:lnTo>
                  <a:pt x="1813560" y="691896"/>
                </a:lnTo>
                <a:lnTo>
                  <a:pt x="3093720" y="1729740"/>
                </a:lnTo>
                <a:lnTo>
                  <a:pt x="5334000" y="0"/>
                </a:lnTo>
                <a:lnTo>
                  <a:pt x="5334000" y="3459480"/>
                </a:lnTo>
                <a:lnTo>
                  <a:pt x="0" y="3459480"/>
                </a:lnTo>
                <a:close/>
              </a:path>
            </a:pathLst>
          </a:custGeom>
          <a:solidFill>
            <a:srgbClr val="E6CA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87120" y="5491988"/>
            <a:ext cx="960120" cy="6919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400" y="533400"/>
            <a:ext cx="405384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验证结果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400" y="1304828"/>
            <a:ext cx="4053840" cy="3919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本地验证：12条虚构物品记录，完成发布与关键词检索功能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状态分布：8条待认领，4条已认领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暂无真实用户测试数据，效率提升比例【待补充】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17440" y="533400"/>
            <a:ext cx="2069253" cy="5765800"/>
          </a:xfrm>
          <a:prstGeom prst="roundRect">
            <a:avLst>
              <a:gd name="adj" fmla="val 49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69840" y="685800"/>
            <a:ext cx="1764453" cy="546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4A463E"/>
                </a:solidFill>
                <a:latin typeface="Segoe UI Emoji"/>
                <a:ea typeface="Segoe UI Emoji"/>
                <a:cs typeface="Segoe UI Emoji"/>
              </a:rPr>
              <a:t>✅</a:t>
            </a:r>
            <a:r>
              <a:rPr sz="1900" b="1" i="0">
                <a:solidFill>
                  <a:srgbClr val="4A463E"/>
                </a:solidFill>
                <a:latin typeface="Arial"/>
                <a:ea typeface="微软雅黑"/>
              </a:rPr>
              <a:t> 发布验证</a:t>
            </a:r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sz="1500" b="0" i="0">
                <a:solidFill>
                  <a:srgbClr val="4A463E"/>
                </a:solidFill>
                <a:latin typeface="Arial"/>
                <a:ea typeface="微软雅黑"/>
              </a:rPr>
              <a:t>12条记录均成功发布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89893" y="533400"/>
            <a:ext cx="2069253" cy="5765800"/>
          </a:xfrm>
          <a:prstGeom prst="roundRect">
            <a:avLst>
              <a:gd name="adj" fmla="val 49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42293" y="685800"/>
            <a:ext cx="1764453" cy="546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4A463E"/>
                </a:solidFill>
                <a:latin typeface="Segoe UI Emoji"/>
                <a:ea typeface="Segoe UI Emoji"/>
                <a:cs typeface="Segoe UI Emoji"/>
              </a:rPr>
              <a:t>🔍</a:t>
            </a:r>
            <a:r>
              <a:rPr sz="1900" b="1" i="0">
                <a:solidFill>
                  <a:srgbClr val="4A463E"/>
                </a:solidFill>
                <a:latin typeface="Arial"/>
                <a:ea typeface="微软雅黑"/>
              </a:rPr>
              <a:t> 关键词检索</a:t>
            </a:r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sz="1500" b="0" i="0">
                <a:solidFill>
                  <a:srgbClr val="4A463E"/>
                </a:solidFill>
                <a:latin typeface="Arial"/>
                <a:ea typeface="微软雅黑"/>
              </a:rPr>
              <a:t>按物品名称检索，返回正确结果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62347" y="533400"/>
            <a:ext cx="2069253" cy="5765800"/>
          </a:xfrm>
          <a:prstGeom prst="roundRect">
            <a:avLst>
              <a:gd name="adj" fmla="val 49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14747" y="685800"/>
            <a:ext cx="1764453" cy="546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4A463E"/>
                </a:solidFill>
                <a:latin typeface="Segoe UI Emoji"/>
                <a:ea typeface="Segoe UI Emoji"/>
                <a:cs typeface="Segoe UI Emoji"/>
              </a:rPr>
              <a:t>📋</a:t>
            </a:r>
            <a:r>
              <a:rPr sz="1900" b="1" i="0">
                <a:solidFill>
                  <a:srgbClr val="4A463E"/>
                </a:solidFill>
                <a:latin typeface="Arial"/>
                <a:ea typeface="微软雅黑"/>
              </a:rPr>
              <a:t> 待后续补充</a:t>
            </a:r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sz="1500" b="0" i="0">
                <a:solidFill>
                  <a:srgbClr val="4A463E"/>
                </a:solidFill>
                <a:latin typeface="Arial"/>
                <a:ea typeface="微软雅黑"/>
              </a:rPr>
              <a:t>需真实用户测试与效率数据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ellipse"/>
          <p:cNvSpPr/>
          <p:nvPr/>
        </p:nvSpPr>
        <p:spPr>
          <a:xfrm>
            <a:off x="7670800" y="-2341880"/>
            <a:ext cx="6604000" cy="6604000"/>
          </a:xfrm>
          <a:prstGeom prst="ellipse">
            <a:avLst/>
          </a:prstGeom>
          <a:solidFill>
            <a:srgbClr val="FA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mbient-ellipse"/>
          <p:cNvSpPr/>
          <p:nvPr/>
        </p:nvSpPr>
        <p:spPr>
          <a:xfrm>
            <a:off x="8496300" y="-1516380"/>
            <a:ext cx="4953000" cy="4953000"/>
          </a:xfrm>
          <a:prstGeom prst="ellipse">
            <a:avLst/>
          </a:prstGeom>
          <a:solidFill>
            <a:srgbClr val="F9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mbient-ellipse"/>
          <p:cNvSpPr/>
          <p:nvPr/>
        </p:nvSpPr>
        <p:spPr>
          <a:xfrm>
            <a:off x="9321800" y="-690880"/>
            <a:ext cx="3302000" cy="3302000"/>
          </a:xfrm>
          <a:prstGeom prst="ellipse">
            <a:avLst/>
          </a:prstGeom>
          <a:solidFill>
            <a:srgbClr val="F8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mbient-ellipse"/>
          <p:cNvSpPr/>
          <p:nvPr/>
        </p:nvSpPr>
        <p:spPr>
          <a:xfrm>
            <a:off x="10147300" y="134620"/>
            <a:ext cx="1651000" cy="1651000"/>
          </a:xfrm>
          <a:prstGeom prst="ellipse">
            <a:avLst/>
          </a:prstGeom>
          <a:solidFill>
            <a:srgbClr val="F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mbient-rect"/>
          <p:cNvSpPr/>
          <p:nvPr/>
        </p:nvSpPr>
        <p:spPr>
          <a:xfrm>
            <a:off x="0" y="0"/>
            <a:ext cx="1706880" cy="50800"/>
          </a:xfrm>
          <a:prstGeom prst="rect">
            <a:avLst/>
          </a:prstGeom>
          <a:solidFill>
            <a:srgbClr val="B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mbient-text"/>
          <p:cNvSpPr txBox="1"/>
          <p:nvPr/>
        </p:nvSpPr>
        <p:spPr>
          <a:xfrm>
            <a:off x="9144000" y="5486400"/>
            <a:ext cx="2926080" cy="13030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800" b="0">
                <a:solidFill>
                  <a:srgbClr val="E9E4DA"/>
                </a:solidFill>
                <a:latin typeface="Georgia"/>
                <a:ea typeface="宋体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A1917"/>
                </a:solidFill>
                <a:latin typeface="Georgia"/>
                <a:ea typeface="宋体"/>
              </a:rPr>
              <a:t>不足与后续计划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00" y="1355628"/>
            <a:ext cx="10871200" cy="216274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认领身份仍需人工确认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B4432B"/>
              </a:buClr>
              <a:buFont typeface="Arial"/>
              <a:buChar char="—"/>
            </a:pPr>
            <a:r>
              <a:rPr sz="1600" b="0" i="0">
                <a:solidFill>
                  <a:srgbClr val="4A463E"/>
                </a:solidFill>
                <a:latin typeface="Arial"/>
                <a:ea typeface="微软雅黑"/>
              </a:rPr>
              <a:t>缺少异常输入测试和用户可用性测试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0400" y="3721575"/>
            <a:ext cx="10871200" cy="1451897"/>
          </a:xfrm>
          <a:prstGeom prst="roundRect">
            <a:avLst>
              <a:gd name="adj" fmla="val 6997"/>
            </a:avLst>
          </a:prstGeom>
          <a:solidFill>
            <a:srgbClr val="EED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800" y="3835875"/>
            <a:ext cx="10566400" cy="122329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4A463E"/>
                </a:solidFill>
                <a:latin typeface="Arial"/>
                <a:ea typeface="微软雅黑"/>
              </a:rPr>
              <a:t>需补充真实用户反馈数据以验证可用性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