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聚焦研究问题的来源。大家可以看到，目前校园失物信息散落在几十个群聊里，学生要找到自己的东西只能人工翻消息，既低效又容易遗漏。更关键的是，物品的分类和认领状态都没有统一管理——这直接导致了信息模糊和重复发布。本项目的目标正是要填补这个缺口，建立一个统一的发布与检索系统。接下来，我会对比现有方式与我们方案的结构化差异。</a:t>
            </a:r>
          </a:p>
          <a:p/>
          <a:p>
            <a:r>
              <a:t>大纲要点来源（摘录匹配不代表结论已核验，正文编辑后请重新核对）：</a:t>
            </a:r>
          </a:p>
          <a:p>
            <a:r>
              <a:t>校园失物信息分布在多个群聊，查找依靠人工翻阅消息</a:t>
            </a:r>
          </a:p>
          <a:p>
            <a:r>
              <a:t>[S1:2] validation.txt 第 2 段：校园失物信息分散在多个群聊，查找需要人工翻阅消息</a:t>
            </a:r>
          </a:p>
          <a:p>
            <a:r>
              <a:t>物品分类与认领状态无统一管理，信息模糊</a:t>
            </a:r>
          </a:p>
          <a:p>
            <a:r>
              <a:t>[S1:3] validation.txt 第 3 段：发布记录缺少统一入口，物品分类与认领状态不明确</a:t>
            </a:r>
          </a:p>
          <a:p>
            <a:r>
              <a:t>本研究目标：构建统一的失物发布与检索系统 — AI 推断，需核对</a:t>
            </a:r>
          </a:p>
          <a:p/>
          <a:p>
            <a:r>
              <a:t>讲述提示（设计建议，不是事实来源）：</a:t>
            </a:r>
          </a:p>
          <a:p>
            <a:r>
              <a:t>听众：项目评审老师</a:t>
            </a:r>
          </a:p>
          <a:p>
            <a:r>
              <a:t>全篇主线：个人贡献、已验证结果与尚未验证的边界</a:t>
            </a:r>
          </a:p>
          <a:p>
            <a:r>
              <a:t>本页作用：立题：从痛点引出研究问题</a:t>
            </a:r>
          </a:p>
          <a:p>
            <a:r>
              <a:t>建议用时：50 秒（需实际排练校准）</a:t>
            </a:r>
          </a:p>
          <a:p>
            <a:r>
              <a:t>衔接：面对这一缺口，我们的方案如何填补？接下来介绍方法设计与技术取舍。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我们直接对比现有方案与本方案的核心差异。左图直观展示从群聊乱序信息到统一结构化管理的转变。需要注意，已有方式虽简单但导致检索困难，而本方案通过发布、分类筛选和关键词搜索实现结构化——这也是我们主动选择未做图片相似度搜索的取舍，下一节会展开方法细节。</a:t>
            </a:r>
          </a:p>
          <a:p/>
          <a:p>
            <a:r>
              <a:t>大纲要点来源（摘录匹配不代表结论已核验，正文编辑后请重新核对）：</a:t>
            </a:r>
          </a:p>
          <a:p>
            <a:r>
              <a:t>已有方式依赖群聊，无结构化发布，检索困难</a:t>
            </a:r>
          </a:p>
          <a:p>
            <a:r>
              <a:t>[S1:2] validation.txt 第 2 段：查找需要人工翻阅消息</a:t>
            </a:r>
          </a:p>
          <a:p>
            <a:r>
              <a:t>本方案提供失物发布、分类筛选、关键词搜索和认领状态更新功能</a:t>
            </a:r>
          </a:p>
          <a:p>
            <a:r>
              <a:t>[S1:4] validation.txt 第 4 段：提供失物发布、分类筛选、关键词搜索和认领状态更新</a:t>
            </a:r>
          </a:p>
          <a:p>
            <a:r>
              <a:t>两者关键差异：从人工翻阅到统一管理 — AI 推断，需核对</a:t>
            </a:r>
          </a:p>
          <a:p/>
          <a:p>
            <a:r>
              <a:t>讲述提示（设计建议，不是事实来源）：</a:t>
            </a:r>
          </a:p>
          <a:p>
            <a:r>
              <a:t>听众：项目评审老师</a:t>
            </a:r>
          </a:p>
          <a:p>
            <a:r>
              <a:t>全篇主线：个人贡献、已验证结果与尚未验证的边界</a:t>
            </a:r>
          </a:p>
          <a:p>
            <a:r>
              <a:t>本页作用：论证缺口：说明方案如何填补认识缺口</a:t>
            </a:r>
          </a:p>
          <a:p>
            <a:r>
              <a:t>建议用时：50 秒（需实际排练校准）</a:t>
            </a:r>
          </a:p>
          <a:p>
            <a:r>
              <a:t>衔接：这一方案依赖具体的技术选型，接下来介绍方法实现与关键取舍。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这一页我们解释技术选型。我们选择了 React 做前端、FastAPI 做后端、PostgreSQL 存数据，覆盖发布、筛选、搜索和状态更新。关键取舍在于没有实现图片相似度搜索——大家可以看到右边要点：为了在有限时间内验证核心逻辑，我们优先做了文本和状态的功能。这一取舍后续我们会评估是否需要补充。接下来进入验证结果页。</a:t>
            </a:r>
          </a:p>
          <a:p/>
          <a:p>
            <a:r>
              <a:t>大纲要点来源（摘录匹配不代表结论已核验，正文编辑后请重新核对）：</a:t>
            </a:r>
          </a:p>
          <a:p>
            <a:r>
              <a:t>前端 React，后端 FastAPI，数据库 PostgreSQL</a:t>
            </a:r>
          </a:p>
          <a:p>
            <a:r>
              <a:t>[S1:5] validation.txt 第 5 段：前端采用 React，后端采用 FastAPI，数据保存在 PostgreSQL</a:t>
            </a:r>
          </a:p>
          <a:p>
            <a:r>
              <a:t>功能覆盖发布、分类筛选、关键词搜索、状态更新</a:t>
            </a:r>
          </a:p>
          <a:p>
            <a:r>
              <a:t>[S1:4] validation.txt 第 4 段：提供失物发布、分类筛选、关键词搜索和认领状态更新</a:t>
            </a:r>
          </a:p>
          <a:p>
            <a:r>
              <a:t>权衡取舍：未实现图片相似度搜索，本次聚焦核心功能验证</a:t>
            </a:r>
          </a:p>
          <a:p>
            <a:r>
              <a:t>[S1:4] validation.txt 第 4 段：未实现图片相似度搜索</a:t>
            </a:r>
          </a:p>
          <a:p/>
          <a:p>
            <a:r>
              <a:t>讲述提示（设计建议，不是事实来源）：</a:t>
            </a:r>
          </a:p>
          <a:p>
            <a:r>
              <a:t>听众：项目评审老师</a:t>
            </a:r>
          </a:p>
          <a:p>
            <a:r>
              <a:t>全篇主线：个人贡献、已验证结果与尚未验证的边界</a:t>
            </a:r>
          </a:p>
          <a:p>
            <a:r>
              <a:t>本页作用：方法：展示技术选型与关键取舍</a:t>
            </a:r>
          </a:p>
          <a:p>
            <a:r>
              <a:t>建议用时：50 秒（需实际排练校准）</a:t>
            </a:r>
          </a:p>
          <a:p>
            <a:r>
              <a:t>衔接：技术选型确定后，我们进入了验证阶段。接下来展示验证结果与当前证据。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展示的是功能验证结果，而非用户研究。12条虚构记录的测试确认了发布与检索流程跑通，但必须明确这只是启动验证，证据强度有限。接下来，我将进入个人贡献与当前局限的讨论，看看哪些已验证，哪些只是假设。请注意，表格中无真实用户数据，这是我们下一步要补上的关键缺口。</a:t>
            </a:r>
          </a:p>
          <a:p/>
          <a:p>
            <a:r>
              <a:t>大纲要点来源（摘录匹配不代表结论已核验，正文编辑后请重新核对）：</a:t>
            </a:r>
          </a:p>
          <a:p>
            <a:r>
              <a:t>在本地用12条虚构物品记录验证发布和关键词检索</a:t>
            </a:r>
          </a:p>
          <a:p>
            <a:r>
              <a:t>[S1:6] validation.txt 第 6 段：在本地用12条虚构物品记录验证发布和关键词检索</a:t>
            </a:r>
          </a:p>
          <a:p>
            <a:r>
              <a:t>8条待认领，4条已认领</a:t>
            </a:r>
          </a:p>
          <a:p>
            <a:r>
              <a:t>[S1:6] validation.txt 第 6 段：其中8条记录标为待认领、4条标为已认领</a:t>
            </a:r>
          </a:p>
          <a:p>
            <a:r>
              <a:t>无真实用户测试，亦无效率提升比例</a:t>
            </a:r>
          </a:p>
          <a:p>
            <a:r>
              <a:t>[S1:6] validation.txt 第 6 段：没有真实用户测试，也没有效率提升比例</a:t>
            </a:r>
          </a:p>
          <a:p/>
          <a:p>
            <a:r>
              <a:t>讲述提示（设计建议，不是事实来源）：</a:t>
            </a:r>
          </a:p>
          <a:p>
            <a:r>
              <a:t>听众：项目评审老师</a:t>
            </a:r>
          </a:p>
          <a:p>
            <a:r>
              <a:t>全篇主线：个人贡献、已验证结果与尚未验证的边界</a:t>
            </a:r>
          </a:p>
          <a:p>
            <a:r>
              <a:t>本页作用：证据：展示已验证结果与证据边界</a:t>
            </a:r>
          </a:p>
          <a:p>
            <a:r>
              <a:t>建议用时：50 秒（需实际排练校准）</a:t>
            </a:r>
          </a:p>
          <a:p>
            <a:r>
              <a:t>衔接：然而，验证中暴露了若干局限，且部分能力尚未测试。接下来分析贡献与尚未验证的边界。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左栏展示了本人在项目中的具体贡献：使用 React 和 FastAPI 完成了页面开发与搜索接口，并在本地用 12 条虚构物品验证了核心功能。右栏则清晰标注了当前尚未验证的边界——认领身份仍需人工确认，且异常输入与用户可用性测试均未开展。这恰恰是下一步需要与各位老师讨论的重点：在真实校园环境中，如何设计有效的身份核实机制？</a:t>
            </a:r>
          </a:p>
          <a:p/>
          <a:p>
            <a:r>
              <a:t>大纲要点来源（摘录匹配不代表结论已核验，正文编辑后请重新核对）：</a:t>
            </a:r>
          </a:p>
          <a:p>
            <a:r>
              <a:t>个人贡献：页面开发、搜索接口与本地测试</a:t>
            </a:r>
          </a:p>
          <a:p>
            <a:r>
              <a:t>[S1:5] validation.txt 第 5 段：个人分工为页面开发、搜索接口与本地测试</a:t>
            </a:r>
          </a:p>
          <a:p>
            <a:r>
              <a:t>当前局限：认领身份仍需人工确认</a:t>
            </a:r>
          </a:p>
          <a:p>
            <a:r>
              <a:t>[S1:7] validation.txt 第 7 段：认领身份仍需人工确认</a:t>
            </a:r>
          </a:p>
          <a:p>
            <a:r>
              <a:t>尚未开展：异常输入测试与用户可用性测试</a:t>
            </a:r>
          </a:p>
          <a:p>
            <a:r>
              <a:t>[S1:7] validation.txt 第 7 段：下一步计划补充异常输入测试和用户可用性测试，尚未实施</a:t>
            </a:r>
          </a:p>
          <a:p/>
          <a:p>
            <a:r>
              <a:t>讲述提示（设计建议，不是事实来源）：</a:t>
            </a:r>
          </a:p>
          <a:p>
            <a:r>
              <a:t>听众：项目评审老师</a:t>
            </a:r>
          </a:p>
          <a:p>
            <a:r>
              <a:t>全篇主线：个人贡献、已验证结果与尚未验证的边界</a:t>
            </a:r>
          </a:p>
          <a:p>
            <a:r>
              <a:t>本页作用：局限：梳理贡献与尚未验证的边界</a:t>
            </a:r>
          </a:p>
          <a:p>
            <a:r>
              <a:t>建议用时：50 秒（需实际排练校准）</a:t>
            </a:r>
          </a:p>
          <a:p>
            <a:r>
              <a:t>衔接：综合以上结果与边界，最后我们希望与各位老师讨论：在真实校园环境中，如何评估认领机制和用户接受度？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结一下，我们已经在本地验证了发布和检索功能的基本可行性，但认领身份确认和用户接受度这两个关键问题还没有真实数据。下一步最直接的方案是补充用户可用性测试和异常输入测试，同时考虑引入学号验证或二维码来优化认领流程。希望各位老师就如何在实际校园环境中评估这些环节给出建议。</a:t>
            </a:r>
          </a:p>
          <a:p/>
          <a:p>
            <a:r>
              <a:t>大纲要点来源（摘录匹配不代表结论已核验，正文编辑后请重新核对）：</a:t>
            </a:r>
          </a:p>
          <a:p>
            <a:r>
              <a:t>认领身份确认机制：人工确认的可行性与改进方向 — AI 推断，需核对</a:t>
            </a:r>
          </a:p>
          <a:p>
            <a:r>
              <a:t>用户接受度：需真实用户测试验证 — AI 推断，需核对</a:t>
            </a:r>
          </a:p>
          <a:p>
            <a:r>
              <a:t>综合结论：功能验证可行，但生态验证尚缺 — AI 推断，需核对</a:t>
            </a:r>
          </a:p>
          <a:p/>
          <a:p>
            <a:r>
              <a:t>讲述提示（设计建议，不是事实来源）：</a:t>
            </a:r>
          </a:p>
          <a:p>
            <a:r>
              <a:t>听众：项目评审老师</a:t>
            </a:r>
          </a:p>
          <a:p>
            <a:r>
              <a:t>全篇主线：个人贡献、已验证结果与尚未验证的边界</a:t>
            </a:r>
          </a:p>
          <a:p>
            <a:r>
              <a:t>本页作用：总结与展望：总结可行结论，开放讨论问题</a:t>
            </a:r>
          </a:p>
          <a:p>
            <a:r>
              <a:t>建议用时：50 秒（需实际排练校准）</a:t>
            </a:r>
          </a:p>
          <a:p>
            <a:r>
              <a:t>衔接：感谢各位老师的聆听，欢迎提问与讨论。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ient-rect"/>
          <p:cNvSpPr/>
          <p:nvPr/>
        </p:nvSpPr>
        <p:spPr>
          <a:xfrm>
            <a:off x="0" y="0"/>
            <a:ext cx="1706880" cy="381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0400" y="533400"/>
            <a:ext cx="5334000" cy="5765800"/>
          </a:xfrm>
          <a:prstGeom prst="rect">
            <a:avLst/>
          </a:prstGeom>
          <a:solidFill>
            <a:srgbClr val="EA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007360" y="764032"/>
            <a:ext cx="2987040" cy="1960372"/>
          </a:xfrm>
          <a:prstGeom prst="ellipse">
            <a:avLst/>
          </a:prstGeom>
          <a:solidFill>
            <a:srgbClr val="BDC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47440" y="1109980"/>
            <a:ext cx="1920240" cy="1153160"/>
          </a:xfrm>
          <a:prstGeom prst="ellipse">
            <a:avLst/>
          </a:prstGeom>
          <a:solidFill>
            <a:srgbClr val="A8BC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60400" y="2839720"/>
            <a:ext cx="5334000" cy="3459480"/>
          </a:xfrm>
          <a:custGeom>
            <a:avLst/>
            <a:gdLst/>
            <a:ahLst/>
            <a:cxnLst/>
            <a:rect l="l" t="t" r="r" b="b"/>
            <a:pathLst>
              <a:path w="5334000" h="3459480">
                <a:moveTo>
                  <a:pt x="0" y="2191004"/>
                </a:moveTo>
                <a:lnTo>
                  <a:pt x="1813560" y="691896"/>
                </a:lnTo>
                <a:lnTo>
                  <a:pt x="3093720" y="1729740"/>
                </a:lnTo>
                <a:lnTo>
                  <a:pt x="5334000" y="0"/>
                </a:lnTo>
                <a:lnTo>
                  <a:pt x="5334000" y="3459480"/>
                </a:lnTo>
                <a:lnTo>
                  <a:pt x="0" y="3459480"/>
                </a:lnTo>
                <a:close/>
              </a:path>
            </a:pathLst>
          </a:custGeom>
          <a:solidFill>
            <a:srgbClr val="C9D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87120" y="5491988"/>
            <a:ext cx="960120" cy="6919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97600" y="533400"/>
            <a:ext cx="5334000" cy="123805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8000"/>
              </a:lnSpc>
            </a:pPr>
            <a:r>
              <a:rPr sz="3400" b="0" i="0">
                <a:solidFill>
                  <a:srgbClr val="132033"/>
                </a:solidFill>
                <a:latin typeface="Arial"/>
                <a:ea typeface="微软雅黑"/>
              </a:rPr>
              <a:t>失物信息分散，缺少统一入口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97600" y="1923857"/>
            <a:ext cx="5334000" cy="330041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marL="228600" indent="-228600">
              <a:lnSpc>
                <a:spcPct val="162000"/>
              </a:lnSpc>
              <a:buClr>
                <a:srgbClr val="1D4ED8"/>
              </a:buClr>
              <a:buFont typeface="Arial"/>
              <a:buChar char="—"/>
            </a:pPr>
            <a:r>
              <a:rPr sz="1600" b="0" i="0">
                <a:solidFill>
                  <a:srgbClr val="344358"/>
                </a:solidFill>
                <a:latin typeface="Arial"/>
                <a:ea typeface="微软雅黑"/>
              </a:rPr>
              <a:t>校园失物信息分布在多个群聊，查找依靠人工翻阅消息</a:t>
            </a: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1D4ED8"/>
              </a:buClr>
              <a:buFont typeface="Arial"/>
              <a:buChar char="—"/>
            </a:pPr>
            <a:r>
              <a:rPr sz="1600" b="0" i="0">
                <a:solidFill>
                  <a:srgbClr val="344358"/>
                </a:solidFill>
                <a:latin typeface="Arial"/>
                <a:ea typeface="微软雅黑"/>
              </a:rPr>
              <a:t>物品分类与认领状态无统一管理，信息模糊</a:t>
            </a: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1D4ED8"/>
              </a:buClr>
              <a:buFont typeface="Arial"/>
              <a:buChar char="—"/>
            </a:pPr>
            <a:r>
              <a:rPr sz="1600" b="0" i="0">
                <a:solidFill>
                  <a:srgbClr val="344358"/>
                </a:solidFill>
                <a:latin typeface="Arial"/>
                <a:ea typeface="微软雅黑"/>
              </a:rPr>
              <a:t>本研究目标：构建统一的失物发布与检索系统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ient-rect"/>
          <p:cNvSpPr/>
          <p:nvPr/>
        </p:nvSpPr>
        <p:spPr>
          <a:xfrm>
            <a:off x="0" y="0"/>
            <a:ext cx="1706880" cy="381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97600" y="533400"/>
            <a:ext cx="5334000" cy="123805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8000"/>
              </a:lnSpc>
            </a:pPr>
            <a:r>
              <a:rPr sz="3400" b="0" i="0">
                <a:solidFill>
                  <a:srgbClr val="132033"/>
                </a:solidFill>
                <a:latin typeface="Arial"/>
                <a:ea typeface="微软雅黑"/>
              </a:rPr>
              <a:t>现有方式 vs. 本方案：填补结构化缺口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97600" y="1923857"/>
            <a:ext cx="5334000" cy="330041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marL="228600" indent="-228600">
              <a:lnSpc>
                <a:spcPct val="162000"/>
              </a:lnSpc>
              <a:buClr>
                <a:srgbClr val="1D4ED8"/>
              </a:buClr>
              <a:buFont typeface="Arial"/>
              <a:buChar char="—"/>
            </a:pPr>
            <a:r>
              <a:rPr sz="1600" b="0" i="0">
                <a:solidFill>
                  <a:srgbClr val="344358"/>
                </a:solidFill>
                <a:latin typeface="Arial"/>
                <a:ea typeface="微软雅黑"/>
              </a:rPr>
              <a:t>已 有：依赖群聊，无结构化发布，检索困难</a:t>
            </a: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1D4ED8"/>
              </a:buClr>
              <a:buFont typeface="Arial"/>
              <a:buChar char="—"/>
            </a:pPr>
            <a:r>
              <a:rPr sz="1600" b="0" i="0">
                <a:solidFill>
                  <a:srgbClr val="344358"/>
                </a:solidFill>
                <a:latin typeface="Arial"/>
                <a:ea typeface="微软雅黑"/>
              </a:rPr>
              <a:t>本方案：失物发布、分类筛选、关键词搜索、认领状态更新</a:t>
            </a: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1D4ED8"/>
              </a:buClr>
              <a:buFont typeface="Arial"/>
              <a:buChar char="—"/>
            </a:pPr>
            <a:r>
              <a:rPr sz="1600" b="0" i="0">
                <a:solidFill>
                  <a:srgbClr val="344358"/>
                </a:solidFill>
                <a:latin typeface="Arial"/>
                <a:ea typeface="微软雅黑"/>
              </a:rPr>
              <a:t>关键差异：从人工翻阅到统一管理（来源：S1:2, S1:4）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660400" y="533400"/>
            <a:ext cx="5334000" cy="5765800"/>
          </a:xfrm>
          <a:prstGeom prst="rect">
            <a:avLst/>
          </a:prstGeom>
          <a:solidFill>
            <a:srgbClr val="EA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007360" y="764032"/>
            <a:ext cx="2987040" cy="1960372"/>
          </a:xfrm>
          <a:prstGeom prst="ellipse">
            <a:avLst/>
          </a:prstGeom>
          <a:solidFill>
            <a:srgbClr val="BDC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647440" y="1109980"/>
            <a:ext cx="1920240" cy="1153160"/>
          </a:xfrm>
          <a:prstGeom prst="ellipse">
            <a:avLst/>
          </a:prstGeom>
          <a:solidFill>
            <a:srgbClr val="A8BC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660400" y="2839720"/>
            <a:ext cx="5334000" cy="3459480"/>
          </a:xfrm>
          <a:custGeom>
            <a:avLst/>
            <a:gdLst/>
            <a:ahLst/>
            <a:cxnLst/>
            <a:rect l="l" t="t" r="r" b="b"/>
            <a:pathLst>
              <a:path w="5334000" h="3459480">
                <a:moveTo>
                  <a:pt x="0" y="2191004"/>
                </a:moveTo>
                <a:lnTo>
                  <a:pt x="1813560" y="691896"/>
                </a:lnTo>
                <a:lnTo>
                  <a:pt x="3093720" y="1729740"/>
                </a:lnTo>
                <a:lnTo>
                  <a:pt x="5334000" y="0"/>
                </a:lnTo>
                <a:lnTo>
                  <a:pt x="5334000" y="3459480"/>
                </a:lnTo>
                <a:lnTo>
                  <a:pt x="0" y="3459480"/>
                </a:lnTo>
                <a:close/>
              </a:path>
            </a:pathLst>
          </a:custGeom>
          <a:solidFill>
            <a:srgbClr val="C9D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87120" y="5491988"/>
            <a:ext cx="960120" cy="6919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ient-rect"/>
          <p:cNvSpPr/>
          <p:nvPr/>
        </p:nvSpPr>
        <p:spPr>
          <a:xfrm>
            <a:off x="0" y="0"/>
            <a:ext cx="1706880" cy="381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0400" y="533400"/>
            <a:ext cx="5334000" cy="5765800"/>
          </a:xfrm>
          <a:prstGeom prst="rect">
            <a:avLst/>
          </a:prstGeom>
          <a:solidFill>
            <a:srgbClr val="EA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007360" y="764032"/>
            <a:ext cx="2987040" cy="1960372"/>
          </a:xfrm>
          <a:prstGeom prst="ellipse">
            <a:avLst/>
          </a:prstGeom>
          <a:solidFill>
            <a:srgbClr val="BDC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47440" y="1109980"/>
            <a:ext cx="1920240" cy="1153160"/>
          </a:xfrm>
          <a:prstGeom prst="ellipse">
            <a:avLst/>
          </a:prstGeom>
          <a:solidFill>
            <a:srgbClr val="A8BC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60400" y="2839720"/>
            <a:ext cx="5334000" cy="3459480"/>
          </a:xfrm>
          <a:custGeom>
            <a:avLst/>
            <a:gdLst/>
            <a:ahLst/>
            <a:cxnLst/>
            <a:rect l="l" t="t" r="r" b="b"/>
            <a:pathLst>
              <a:path w="5334000" h="3459480">
                <a:moveTo>
                  <a:pt x="0" y="2191004"/>
                </a:moveTo>
                <a:lnTo>
                  <a:pt x="1813560" y="691896"/>
                </a:lnTo>
                <a:lnTo>
                  <a:pt x="3093720" y="1729740"/>
                </a:lnTo>
                <a:lnTo>
                  <a:pt x="5334000" y="0"/>
                </a:lnTo>
                <a:lnTo>
                  <a:pt x="5334000" y="3459480"/>
                </a:lnTo>
                <a:lnTo>
                  <a:pt x="0" y="3459480"/>
                </a:lnTo>
                <a:close/>
              </a:path>
            </a:pathLst>
          </a:custGeom>
          <a:solidFill>
            <a:srgbClr val="C9D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87120" y="5491988"/>
            <a:ext cx="960120" cy="6919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97600" y="533400"/>
            <a:ext cx="5334000" cy="6190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8000"/>
              </a:lnSpc>
            </a:pPr>
            <a:r>
              <a:rPr sz="3400" b="0" i="0">
                <a:solidFill>
                  <a:srgbClr val="132033"/>
                </a:solidFill>
                <a:latin typeface="Arial"/>
                <a:ea typeface="微软雅黑"/>
              </a:rPr>
              <a:t>技术选型与关键取舍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97600" y="1304828"/>
            <a:ext cx="5334000" cy="39194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marL="228600" indent="-228600">
              <a:lnSpc>
                <a:spcPct val="165000"/>
              </a:lnSpc>
              <a:buClr>
                <a:srgbClr val="1D4ED8"/>
              </a:buClr>
              <a:buFont typeface="Arial"/>
              <a:buChar char="—"/>
            </a:pPr>
            <a:r>
              <a:rPr sz="1500" b="0" i="0">
                <a:solidFill>
                  <a:srgbClr val="344358"/>
                </a:solidFill>
                <a:latin typeface="Arial"/>
                <a:ea typeface="微软雅黑"/>
              </a:rPr>
              <a:t>React + FastAPI + PostgreSQL 支撑发布、分类筛选、关键词搜索与状态更新</a:t>
            </a:r>
          </a:p>
          <a:p>
            <a:pPr marL="228600" indent="-228600">
              <a:lnSpc>
                <a:spcPct val="165000"/>
              </a:lnSpc>
              <a:spcBef>
                <a:spcPts val="1200"/>
              </a:spcBef>
              <a:buClr>
                <a:srgbClr val="1D4ED8"/>
              </a:buClr>
              <a:buFont typeface="Arial"/>
              <a:buChar char="—"/>
            </a:pPr>
            <a:r>
              <a:rPr sz="1500" b="0" i="0">
                <a:solidFill>
                  <a:srgbClr val="344358"/>
                </a:solidFill>
                <a:latin typeface="Arial"/>
                <a:ea typeface="微软雅黑"/>
              </a:rPr>
              <a:t>未实现图片相似度搜索，聚焦核心功能验证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ient-rect"/>
          <p:cNvSpPr/>
          <p:nvPr/>
        </p:nvSpPr>
        <p:spPr>
          <a:xfrm>
            <a:off x="0" y="0"/>
            <a:ext cx="1706880" cy="381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97600" y="533400"/>
            <a:ext cx="5334000" cy="123805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8000"/>
              </a:lnSpc>
            </a:pPr>
            <a:r>
              <a:rPr sz="3400" b="0" i="0">
                <a:solidFill>
                  <a:srgbClr val="132033"/>
                </a:solidFill>
                <a:latin typeface="Arial"/>
                <a:ea typeface="微软雅黑"/>
              </a:rPr>
              <a:t>验证结果：12条本地记录验证核心功能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97600" y="1923857"/>
            <a:ext cx="5334000" cy="330041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marL="228600" indent="-228600">
              <a:lnSpc>
                <a:spcPct val="162000"/>
              </a:lnSpc>
              <a:buClr>
                <a:srgbClr val="1D4ED8"/>
              </a:buClr>
              <a:buFont typeface="Arial"/>
              <a:buChar char="—"/>
            </a:pPr>
            <a:r>
              <a:rPr sz="1600" b="0" i="0">
                <a:solidFill>
                  <a:srgbClr val="344358"/>
                </a:solidFill>
                <a:latin typeface="Arial"/>
                <a:ea typeface="微软雅黑"/>
              </a:rPr>
              <a:t>功能验证：发布与关键词检索在12条虚构记录上可行</a:t>
            </a: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1D4ED8"/>
              </a:buClr>
              <a:buFont typeface="Arial"/>
              <a:buChar char="—"/>
            </a:pPr>
            <a:r>
              <a:rPr sz="1600" b="0" i="0">
                <a:solidFill>
                  <a:srgbClr val="344358"/>
                </a:solidFill>
                <a:latin typeface="Arial"/>
                <a:ea typeface="微软雅黑"/>
              </a:rPr>
              <a:t>状态分布：8条待认领，4条已认领</a:t>
            </a: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1D4ED8"/>
              </a:buClr>
              <a:buFont typeface="Arial"/>
              <a:buChar char="—"/>
            </a:pPr>
            <a:r>
              <a:rPr sz="1600" b="0" i="0">
                <a:solidFill>
                  <a:srgbClr val="344358"/>
                </a:solidFill>
                <a:latin typeface="Arial"/>
                <a:ea typeface="微软雅黑"/>
              </a:rPr>
              <a:t>证据强度有限：无真实用户测试，无效率提升数据</a:t>
            </a:r>
          </a:p>
        </p:txBody>
      </p:sp>
      <p:sp>
        <p:nvSpPr>
          <p:cNvPr id="6" name="Rectangle 5"/>
          <p:cNvSpPr/>
          <p:nvPr/>
        </p:nvSpPr>
        <p:spPr>
          <a:xfrm>
            <a:off x="660400" y="533400"/>
            <a:ext cx="5334000" cy="5765800"/>
          </a:xfrm>
          <a:prstGeom prst="rect">
            <a:avLst/>
          </a:prstGeom>
          <a:solidFill>
            <a:srgbClr val="EA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007360" y="764032"/>
            <a:ext cx="2987040" cy="1960372"/>
          </a:xfrm>
          <a:prstGeom prst="ellipse">
            <a:avLst/>
          </a:prstGeom>
          <a:solidFill>
            <a:srgbClr val="BDC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647440" y="1109980"/>
            <a:ext cx="1920240" cy="1153160"/>
          </a:xfrm>
          <a:prstGeom prst="ellipse">
            <a:avLst/>
          </a:prstGeom>
          <a:solidFill>
            <a:srgbClr val="A8BC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660400" y="2839720"/>
            <a:ext cx="5334000" cy="3459480"/>
          </a:xfrm>
          <a:custGeom>
            <a:avLst/>
            <a:gdLst/>
            <a:ahLst/>
            <a:cxnLst/>
            <a:rect l="l" t="t" r="r" b="b"/>
            <a:pathLst>
              <a:path w="5334000" h="3459480">
                <a:moveTo>
                  <a:pt x="0" y="2191004"/>
                </a:moveTo>
                <a:lnTo>
                  <a:pt x="1813560" y="691896"/>
                </a:lnTo>
                <a:lnTo>
                  <a:pt x="3093720" y="1729740"/>
                </a:lnTo>
                <a:lnTo>
                  <a:pt x="5334000" y="0"/>
                </a:lnTo>
                <a:lnTo>
                  <a:pt x="5334000" y="3459480"/>
                </a:lnTo>
                <a:lnTo>
                  <a:pt x="0" y="3459480"/>
                </a:lnTo>
                <a:close/>
              </a:path>
            </a:pathLst>
          </a:custGeom>
          <a:solidFill>
            <a:srgbClr val="C9D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87120" y="5491988"/>
            <a:ext cx="960120" cy="6919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ient-rect"/>
          <p:cNvSpPr/>
          <p:nvPr/>
        </p:nvSpPr>
        <p:spPr>
          <a:xfrm>
            <a:off x="0" y="0"/>
            <a:ext cx="1706880" cy="381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97600" y="533400"/>
            <a:ext cx="5334000" cy="6190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8000"/>
              </a:lnSpc>
            </a:pPr>
            <a:r>
              <a:rPr sz="3400" b="0" i="0">
                <a:solidFill>
                  <a:srgbClr val="132033"/>
                </a:solidFill>
                <a:latin typeface="Arial"/>
                <a:ea typeface="微软雅黑"/>
              </a:rPr>
              <a:t>个人贡献与当前局限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97600" y="1304828"/>
            <a:ext cx="2590800" cy="39194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marL="228600" indent="-228600">
              <a:lnSpc>
                <a:spcPct val="165000"/>
              </a:lnSpc>
              <a:buClr>
                <a:srgbClr val="1D4ED8"/>
              </a:buClr>
              <a:buFont typeface="Arial"/>
              <a:buChar char="—"/>
            </a:pPr>
            <a:r>
              <a:rPr sz="1500" b="0" i="0">
                <a:solidFill>
                  <a:srgbClr val="344358"/>
                </a:solidFill>
                <a:latin typeface="Arial"/>
                <a:ea typeface="微软雅黑"/>
              </a:rPr>
              <a:t>页面开发：React + FastAPI 前端后端</a:t>
            </a:r>
          </a:p>
          <a:p>
            <a:pPr marL="228600" indent="-228600">
              <a:lnSpc>
                <a:spcPct val="165000"/>
              </a:lnSpc>
              <a:spcBef>
                <a:spcPts val="1200"/>
              </a:spcBef>
              <a:buClr>
                <a:srgbClr val="1D4ED8"/>
              </a:buClr>
              <a:buFont typeface="Arial"/>
              <a:buChar char="—"/>
            </a:pPr>
            <a:r>
              <a:rPr sz="1500" b="0" i="0">
                <a:solidFill>
                  <a:srgbClr val="344358"/>
                </a:solidFill>
                <a:latin typeface="Arial"/>
                <a:ea typeface="微软雅黑"/>
              </a:rPr>
              <a:t>搜索接口：关键词检索功能实现</a:t>
            </a:r>
          </a:p>
          <a:p>
            <a:pPr marL="228600" indent="-228600">
              <a:lnSpc>
                <a:spcPct val="165000"/>
              </a:lnSpc>
              <a:spcBef>
                <a:spcPts val="1200"/>
              </a:spcBef>
              <a:buClr>
                <a:srgbClr val="1D4ED8"/>
              </a:buClr>
              <a:buFont typeface="Arial"/>
              <a:buChar char="—"/>
            </a:pPr>
            <a:r>
              <a:rPr sz="1500" b="0" i="0">
                <a:solidFill>
                  <a:srgbClr val="344358"/>
                </a:solidFill>
                <a:latin typeface="Arial"/>
                <a:ea typeface="微软雅黑"/>
              </a:rPr>
              <a:t>本地测试：12条虚构物品记录验证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40800" y="1304828"/>
            <a:ext cx="2590800" cy="39194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marL="228600" indent="-228600">
              <a:lnSpc>
                <a:spcPct val="165000"/>
              </a:lnSpc>
              <a:buClr>
                <a:srgbClr val="1D4ED8"/>
              </a:buClr>
              <a:buFont typeface="Arial"/>
              <a:buChar char="—"/>
            </a:pPr>
            <a:r>
              <a:rPr sz="1500" b="0" i="0">
                <a:solidFill>
                  <a:srgbClr val="344358"/>
                </a:solidFill>
                <a:latin typeface="Arial"/>
                <a:ea typeface="微软雅黑"/>
              </a:rPr>
              <a:t>认领身份仍需人工确认</a:t>
            </a:r>
          </a:p>
          <a:p>
            <a:pPr marL="228600" indent="-228600">
              <a:lnSpc>
                <a:spcPct val="165000"/>
              </a:lnSpc>
              <a:spcBef>
                <a:spcPts val="1200"/>
              </a:spcBef>
              <a:buClr>
                <a:srgbClr val="1D4ED8"/>
              </a:buClr>
              <a:buFont typeface="Arial"/>
              <a:buChar char="—"/>
            </a:pPr>
            <a:r>
              <a:rPr sz="1500" b="0" i="0">
                <a:solidFill>
                  <a:srgbClr val="344358"/>
                </a:solidFill>
                <a:latin typeface="Arial"/>
                <a:ea typeface="微软雅黑"/>
              </a:rPr>
              <a:t>未开展异常输入测试</a:t>
            </a:r>
          </a:p>
          <a:p>
            <a:pPr marL="228600" indent="-228600">
              <a:lnSpc>
                <a:spcPct val="165000"/>
              </a:lnSpc>
              <a:spcBef>
                <a:spcPts val="1200"/>
              </a:spcBef>
              <a:buClr>
                <a:srgbClr val="1D4ED8"/>
              </a:buClr>
              <a:buFont typeface="Arial"/>
              <a:buChar char="—"/>
            </a:pPr>
            <a:r>
              <a:rPr sz="1500" b="0" i="0">
                <a:solidFill>
                  <a:srgbClr val="344358"/>
                </a:solidFill>
                <a:latin typeface="Arial"/>
                <a:ea typeface="微软雅黑"/>
              </a:rPr>
              <a:t>缺乏用户可用性测试数据</a:t>
            </a:r>
          </a:p>
        </p:txBody>
      </p:sp>
      <p:sp>
        <p:nvSpPr>
          <p:cNvPr id="7" name="Rectangle 6"/>
          <p:cNvSpPr/>
          <p:nvPr/>
        </p:nvSpPr>
        <p:spPr>
          <a:xfrm>
            <a:off x="660400" y="533400"/>
            <a:ext cx="5334000" cy="5765800"/>
          </a:xfrm>
          <a:prstGeom prst="rect">
            <a:avLst/>
          </a:prstGeom>
          <a:solidFill>
            <a:srgbClr val="EA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007360" y="764032"/>
            <a:ext cx="2987040" cy="1960372"/>
          </a:xfrm>
          <a:prstGeom prst="ellipse">
            <a:avLst/>
          </a:prstGeom>
          <a:solidFill>
            <a:srgbClr val="BDC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647440" y="1109980"/>
            <a:ext cx="1920240" cy="1153160"/>
          </a:xfrm>
          <a:prstGeom prst="ellipse">
            <a:avLst/>
          </a:prstGeom>
          <a:solidFill>
            <a:srgbClr val="A8BC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660400" y="2839720"/>
            <a:ext cx="5334000" cy="3459480"/>
          </a:xfrm>
          <a:custGeom>
            <a:avLst/>
            <a:gdLst/>
            <a:ahLst/>
            <a:cxnLst/>
            <a:rect l="l" t="t" r="r" b="b"/>
            <a:pathLst>
              <a:path w="5334000" h="3459480">
                <a:moveTo>
                  <a:pt x="0" y="2191004"/>
                </a:moveTo>
                <a:lnTo>
                  <a:pt x="1813560" y="691896"/>
                </a:lnTo>
                <a:lnTo>
                  <a:pt x="3093720" y="1729740"/>
                </a:lnTo>
                <a:lnTo>
                  <a:pt x="5334000" y="0"/>
                </a:lnTo>
                <a:lnTo>
                  <a:pt x="5334000" y="3459480"/>
                </a:lnTo>
                <a:lnTo>
                  <a:pt x="0" y="3459480"/>
                </a:lnTo>
                <a:close/>
              </a:path>
            </a:pathLst>
          </a:custGeom>
          <a:solidFill>
            <a:srgbClr val="C9D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87120" y="5491988"/>
            <a:ext cx="960120" cy="6919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ient-rect"/>
          <p:cNvSpPr/>
          <p:nvPr/>
        </p:nvSpPr>
        <p:spPr>
          <a:xfrm>
            <a:off x="0" y="0"/>
            <a:ext cx="1706880" cy="381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0400" y="533400"/>
            <a:ext cx="10871200" cy="6190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8000"/>
              </a:lnSpc>
            </a:pPr>
            <a:r>
              <a:rPr sz="3400" b="0" i="0">
                <a:solidFill>
                  <a:srgbClr val="132033"/>
                </a:solidFill>
                <a:latin typeface="Arial"/>
                <a:ea typeface="微软雅黑"/>
              </a:rPr>
              <a:t>讨论：如何评估认领机制与用户接受度？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400" y="1355628"/>
            <a:ext cx="10871200" cy="216274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marL="228600" indent="-228600">
              <a:lnSpc>
                <a:spcPct val="162000"/>
              </a:lnSpc>
              <a:buClr>
                <a:srgbClr val="1D4ED8"/>
              </a:buClr>
              <a:buFont typeface="Arial"/>
              <a:buChar char="—"/>
            </a:pPr>
            <a:r>
              <a:rPr sz="1600" b="0" i="0">
                <a:solidFill>
                  <a:srgbClr val="344358"/>
                </a:solidFill>
                <a:latin typeface="Arial"/>
                <a:ea typeface="微软雅黑"/>
              </a:rPr>
              <a:t>认领身份确认需人工核对，可考虑引入学号验证或二维码扫描</a:t>
            </a: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1D4ED8"/>
              </a:buClr>
              <a:buFont typeface="Arial"/>
              <a:buChar char="—"/>
            </a:pPr>
            <a:r>
              <a:rPr sz="1600" b="0" i="0">
                <a:solidFill>
                  <a:srgbClr val="344358"/>
                </a:solidFill>
                <a:latin typeface="Arial"/>
                <a:ea typeface="微软雅黑"/>
              </a:rPr>
              <a:t>用户可用性测试计划未实施，尚无真实使用数据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0400" y="3721575"/>
            <a:ext cx="10871200" cy="1451897"/>
          </a:xfrm>
          <a:prstGeom prst="roundRect">
            <a:avLst>
              <a:gd name="adj" fmla="val 6997"/>
            </a:avLst>
          </a:prstGeom>
          <a:solidFill>
            <a:srgbClr val="D6D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2800" y="3835875"/>
            <a:ext cx="10566400" cy="122329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65000"/>
              </a:lnSpc>
            </a:pPr>
            <a:r>
              <a:rPr sz="1500" b="0" i="0">
                <a:solidFill>
                  <a:srgbClr val="344358"/>
                </a:solidFill>
                <a:latin typeface="Arial"/>
                <a:ea typeface="微软雅黑"/>
              </a:rPr>
              <a:t>功能验证可行，但生态验证与用户接受度尚缺数据支撑。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