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位老师好，今天我想和大家讨论一个非常常见的校园问题：学生的失物和招领信息分散在无数个微信群聊里，靠人工翻阅历史记录来找，效率很低。更麻烦的是，同一件东西可能被人反复发布，甚至已经认领了，消息还在被转发，给管理员和同学都带来困扰。目前我们还没有精确测量过平均查找时长，但从日常观察看，这个问题是真实存在的。接下来，我将展示我们为此设计的解决方案。</a:t>
            </a:r>
          </a:p>
          <a:p/>
          <a:p>
            <a:r>
              <a:t>大纲要点来源（摘录匹配不代表结论已核验，正文编辑后请重新核对）：</a:t>
            </a:r>
          </a:p>
          <a:p>
            <a:r>
              <a:t>物品信息分散在多个群聊，需逐条翻阅历史消息。</a:t>
            </a:r>
          </a:p>
          <a:p>
            <a:r>
              <a:t>[S1:3] validation.txt 第 3 段：学生在不同群聊发布失物和招领消息，历史消息需要逐条翻阅。</a:t>
            </a:r>
          </a:p>
          <a:p>
            <a:r>
              <a:t>相同物品可能重复发布，认领后仍可能被继续转发。</a:t>
            </a:r>
          </a:p>
          <a:p>
            <a:r>
              <a:t>[S1:3] validation.txt 第 3 段：相同物品可能重复发布，消息缺少统一分类，已经认领的物品仍可能被继续转发。</a:t>
            </a:r>
          </a:p>
          <a:p>
            <a:r>
              <a:t>缺少统一分类与状态管理，检索效率低。 — AI 推断，需核对</a:t>
            </a:r>
          </a:p>
          <a:p/>
          <a:p>
            <a:r>
              <a:t>讲述提示（设计建议，不是事实来源）：</a:t>
            </a:r>
          </a:p>
          <a:p>
            <a:r>
              <a:t>听众：项目评审老师，对研究方法和证据验证有专业判断力</a:t>
            </a:r>
          </a:p>
          <a:p>
            <a:r>
              <a:t>全篇主线：从真实的校园失物招领痛点出发，逐步展示有限但扎实的解决方案，明确个人贡献与验证边界</a:t>
            </a:r>
          </a:p>
          <a:p>
            <a:r>
              <a:t>本页作用：引出研究问题，建立听众对痛点的认知</a:t>
            </a:r>
          </a:p>
          <a:p>
            <a:r>
              <a:t>建议用时：34 秒（需实际排练校准）</a:t>
            </a:r>
          </a:p>
          <a:p>
            <a:r>
              <a:t>衔接：基于这个痛点，我们设计了什么样的解决方案？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我们聚焦在设计取舍，解释为什么是关键词检索加状态管理而非更智能的方案。左栏列出已实现功能——统一入口、文字描述、分类筛选和人工核验；右栏是明确放弃的方向，比如图片相似度和语义检索。核心在于：通过简化流程换取快速验证基本路径，搜索命中只做候选推荐，不承担身份判断——归属仍交由线下核验。这个取舍目前是设计解释，未做对比实验，邀请各位就搜索策略的进一步比较方向提出意见。</a:t>
            </a:r>
          </a:p>
          <a:p/>
          <a:p>
            <a:r>
              <a:t>大纲要点来源（摘录匹配不代表结论已核验，正文编辑后请重新核对）：</a:t>
            </a:r>
          </a:p>
          <a:p>
            <a:r>
              <a:t>原型提供统一的发布、检索和认领状态入口。</a:t>
            </a:r>
          </a:p>
          <a:p>
            <a:r>
              <a:t>[S1:4] validation.txt 第 4 段：构建统一的发布、浏览、检索和认领状态入口。</a:t>
            </a:r>
          </a:p>
          <a:p>
            <a:r>
              <a:t>关键词匹配和分类筛选作为检索策略，语义检索未实施。</a:t>
            </a:r>
          </a:p>
          <a:p>
            <a:r>
              <a:t>[S1:11] validation.txt 第 11 段：原型采用关键词匹配，便于解释结果和定位问题。语义检索作为备选方向，尚未实施。</a:t>
            </a:r>
          </a:p>
          <a:p>
            <a:r>
              <a:t>身份识别依赖线下人工核验，系统不自动判定归属。</a:t>
            </a:r>
          </a:p>
          <a:p>
            <a:r>
              <a:t>[S1:6] validation.txt 第 6 段：确认后将状态更新为已认领。搜索命中不等于确认归属，系统不自动作出身份判断。</a:t>
            </a:r>
          </a:p>
          <a:p/>
          <a:p>
            <a:r>
              <a:t>讲述提示（设计建议，不是事实来源）：</a:t>
            </a:r>
          </a:p>
          <a:p>
            <a:r>
              <a:t>听众：项目评审老师，对研究方法和证据验证有专业判断力</a:t>
            </a:r>
          </a:p>
          <a:p>
            <a:r>
              <a:t>全篇主线：从真实的校园失物招领痛点出发，逐步展示有限但扎实的解决方案，明确个人贡献与验证边界</a:t>
            </a:r>
          </a:p>
          <a:p>
            <a:r>
              <a:t>本页作用：交代解决方案的设计原则与方法取舍</a:t>
            </a:r>
          </a:p>
          <a:p>
            <a:r>
              <a:t>建议用时：67 秒（需实际排练校准）</a:t>
            </a:r>
          </a:p>
          <a:p>
            <a:r>
              <a:t>衔接：那么，这个设计是否可行？下面展示验证结果。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展示我完成的本地功能验证。我构造了12条虚构物品记录，覆盖证件、电子设备和日用品，并手动检查了发布、关键词检索和状态标签。基本路径均已通过，比如输入记录能保存、查询能显示结果。但请注意，这次验证是手动检查，没有逐条通过率或错误率数据，而且无匹配提示只做了基本观察，像超长输入、特殊字符和网络异常等边界情况还没有测试。</a:t>
            </a:r>
          </a:p>
          <a:p/>
          <a:p>
            <a:r>
              <a:t>大纲要点来源（摘录匹配不代表结论已核验，正文编辑后请重新核对）：</a:t>
            </a:r>
          </a:p>
          <a:p>
            <a:r>
              <a:t>使用12条虚构记录检查发布、检索和状态标签功能。</a:t>
            </a:r>
          </a:p>
          <a:p>
            <a:r>
              <a:t>[S1:15] validation.txt 第 15 段：在本地构造12条物品记录，用于检查发布后可见、关键词检索和状态展示。</a:t>
            </a:r>
          </a:p>
          <a:p>
            <a:r>
              <a:t>输入记录能保存，查询结果能显示，状态标签与数据对应。</a:t>
            </a:r>
          </a:p>
          <a:p>
            <a:r>
              <a:t>[S1:16] validation.txt 第 16 段：本地案例检查了输入记录能否保存、查询结果能否显示、状态标签是否与测试数据对应。</a:t>
            </a:r>
          </a:p>
          <a:p>
            <a:r>
              <a:t>手动验证了无匹配场景显示空结果提示。</a:t>
            </a:r>
          </a:p>
          <a:p>
            <a:r>
              <a:t>[S1:17] validation.txt 第 17 段：虚构查询不存在的物品时，页面展示空结果提示。</a:t>
            </a:r>
          </a:p>
          <a:p/>
          <a:p>
            <a:r>
              <a:t>讲述提示（设计建议，不是事实来源）：</a:t>
            </a:r>
          </a:p>
          <a:p>
            <a:r>
              <a:t>听众：项目评审老师，对研究方法和证据验证有专业判断力</a:t>
            </a:r>
          </a:p>
          <a:p>
            <a:r>
              <a:t>全篇主线：从真实的校园失物招领痛点出发，逐步展示有限但扎实的解决方案，明确个人贡献与验证边界</a:t>
            </a:r>
          </a:p>
          <a:p>
            <a:r>
              <a:t>本页作用：展示个人工作成果与已验证的证据</a:t>
            </a:r>
          </a:p>
          <a:p>
            <a:r>
              <a:t>建议用时：67 秒（需实际排练校准）</a:t>
            </a:r>
          </a:p>
          <a:p>
            <a:r>
              <a:t>衔接：这些验证仍有明确的边界，下面分析设计的局限。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最后一页，我们聚焦于当前工作的局限与未验证的边界。角色假设来自场景设定而非用户访谈，可能偏离真实需求；搜索策略限于关键词匹配，同义表述的遗漏率未经比较；状态处理依赖人工核验，并发冲突和恶意行为完全没有测试。这些是下一步需要优先验证的方向，也为评审提供了讨论基础。</a:t>
            </a:r>
          </a:p>
          <a:p/>
          <a:p>
            <a:r>
              <a:t>大纲要点来源（摘录匹配不代表结论已核验，正文编辑后请重新核对）：</a:t>
            </a:r>
          </a:p>
          <a:p>
            <a:r>
              <a:t>用户角色来自场景设定，未通过用户访谈验证。</a:t>
            </a:r>
          </a:p>
          <a:p>
            <a:r>
              <a:t>[S1:5] validation.txt 第 5 段：上述角色来自场景设定，尚未通过用户访谈验证。</a:t>
            </a:r>
          </a:p>
          <a:p>
            <a:r>
              <a:t>关键词搜索可能遗漏同义表述，未与语义检索对比。</a:t>
            </a:r>
          </a:p>
          <a:p>
            <a:r>
              <a:t>[S1:11] validation.txt 第 11 段：当前方案可能遗漏同义表述；没有对比关键词搜索与语义搜索的准确率。</a:t>
            </a:r>
          </a:p>
          <a:p>
            <a:r>
              <a:t>未测试并发更新冲突、误操作恢复和恶意认领防护。</a:t>
            </a:r>
          </a:p>
          <a:p>
            <a:r>
              <a:t>[S1:12] validation.txt 第 12 段：尚未验证并发更新冲突、误操作恢复和恶意认领防护。</a:t>
            </a:r>
          </a:p>
          <a:p/>
          <a:p>
            <a:r>
              <a:t>讲述提示（设计建议，不是事实来源）：</a:t>
            </a:r>
          </a:p>
          <a:p>
            <a:r>
              <a:t>听众：项目评审老师，对研究方法和证据验证有专业判断力</a:t>
            </a:r>
          </a:p>
          <a:p>
            <a:r>
              <a:t>全篇主线：从真实的校园失物招领痛点出发，逐步展示有限但扎实的解决方案，明确个人贡献与验证边界</a:t>
            </a:r>
          </a:p>
          <a:p>
            <a:r>
              <a:t>本页作用：客观呈现工作的局限与尚未验证之处</a:t>
            </a:r>
          </a:p>
          <a:p>
            <a:r>
              <a:t>建议用时：66 秒（需实际排练校准）</a:t>
            </a:r>
          </a:p>
          <a:p>
            <a:r>
              <a:t>衔接：最后总结当前阶段结论，邀请讨论。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我们进入结论与讨论环节。原型证明了发布、检索和状态更新的基本流程可以在本地数据上跑通，但这些都是受控条件下的演示。真正要判断这个方案有没有用，还需要真实用户来测试、看他们能不能理解状态标签、能不能快速找到东西。另外，规模化性能、安全机制、异常恢复都还没验证。后面的建议是：先做可用性测试，再补充异常场景和同义词查询的案例——这些计划目前都没有设定具体时间线和预算。欢迎各位老师就角色假设和搜索策略的验证方向提出意见。</a:t>
            </a:r>
          </a:p>
          <a:p/>
          <a:p>
            <a:r>
              <a:t>大纲要点来源（摘录匹配不代表结论已核验，正文编辑后请重新核对）：</a:t>
            </a:r>
          </a:p>
          <a:p>
            <a:r>
              <a:t>原型已连接发布、检索和状态展示的基本流程。</a:t>
            </a:r>
          </a:p>
          <a:p>
            <a:r>
              <a:t>[S1:23] validation.txt 第 23 段：原型已连接发布、检索和状态展示的基本流程，本地虚构数据可用于演示。</a:t>
            </a:r>
          </a:p>
          <a:p>
            <a:r>
              <a:t>真实用户价值、规模化性能及完整安全性均未验证。</a:t>
            </a:r>
          </a:p>
          <a:p>
            <a:r>
              <a:t>[S1:23] validation.txt 第 23 段：真实用户价值、规模化性能及完整安全性仍待验证。</a:t>
            </a:r>
          </a:p>
          <a:p>
            <a:r>
              <a:t>后续建议：用户可用性测试、异常场景覆盖、同义词查询案例。</a:t>
            </a:r>
          </a:p>
          <a:p>
            <a:r>
              <a:t>[S1:21] validation.txt 第 21 段：待开展的验证：补充异常输入测试、网络中断恢复观察和用户可用性测试；设计同义词查询案例；</a:t>
            </a:r>
          </a:p>
          <a:p/>
          <a:p>
            <a:r>
              <a:t>讲述提示（设计建议，不是事实来源）：</a:t>
            </a:r>
          </a:p>
          <a:p>
            <a:r>
              <a:t>听众：项目评审老师，对研究方法和证据验证有专业判断力</a:t>
            </a:r>
          </a:p>
          <a:p>
            <a:r>
              <a:t>全篇主线：从真实的校园失物招领痛点出发，逐步展示有限但扎实的解决方案，明确个人贡献与验证边界</a:t>
            </a:r>
          </a:p>
          <a:p>
            <a:r>
              <a:t>本页作用：总结已有成果，提出未来方向，引导讨论</a:t>
            </a:r>
          </a:p>
          <a:p>
            <a:r>
              <a:t>建议用时：66 秒（需实际排练校准）</a:t>
            </a:r>
          </a:p>
          <a:p>
            <a:r>
              <a:t>衔接：以上是本次验收的全部内容，期待各位老师的反馈与建议。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rect"/>
          <p:cNvSpPr/>
          <p:nvPr/>
        </p:nvSpPr>
        <p:spPr>
          <a:xfrm>
            <a:off x="0" y="0"/>
            <a:ext cx="1706880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0400" y="533400"/>
            <a:ext cx="8234274" cy="6190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8000"/>
              </a:lnSpc>
            </a:pPr>
            <a:r>
              <a:rPr sz="3400" b="0" i="0">
                <a:solidFill>
                  <a:srgbClr val="132033"/>
                </a:solidFill>
                <a:latin typeface="Arial"/>
                <a:ea typeface="微软雅黑"/>
              </a:rPr>
              <a:t>校园失物招领：如何让信息不再碎片化？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99474" y="533400"/>
            <a:ext cx="2332126" cy="576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228600" indent="-228600">
              <a:lnSpc>
                <a:spcPct val="162000"/>
              </a:lnSpc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物品信息分散在多个群聊，需逐条翻阅历史消息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相同物品可能重复发布，认领后仍被继续转发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缺少统一分类与状态管理，检索效率低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rect"/>
          <p:cNvSpPr/>
          <p:nvPr/>
        </p:nvSpPr>
        <p:spPr>
          <a:xfrm>
            <a:off x="0" y="0"/>
            <a:ext cx="1706880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9300" y="1859542"/>
            <a:ext cx="25400" cy="443965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98500" y="2584805"/>
            <a:ext cx="127000" cy="127000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98500" y="4340133"/>
            <a:ext cx="127000" cy="127000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98500" y="5494497"/>
            <a:ext cx="127000" cy="127000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98500" y="6047899"/>
            <a:ext cx="127000" cy="127000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0400" y="533400"/>
            <a:ext cx="10871200" cy="450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50000"/>
              </a:lnSpc>
            </a:pPr>
            <a:r>
              <a:rPr sz="1100" b="1" i="0" spc="160">
                <a:solidFill>
                  <a:srgbClr val="1D4ED8"/>
                </a:solidFill>
                <a:latin typeface="Arial"/>
                <a:ea typeface="微软雅黑"/>
              </a:rPr>
              <a:t>设计取舍：关键词检索与状态管理优先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400" y="1162050"/>
            <a:ext cx="10871200" cy="519692"/>
          </a:xfrm>
          <a:prstGeom prst="rect">
            <a:avLst/>
          </a:prstGeom>
          <a:noFill/>
        </p:spPr>
        <p:txBody>
          <a:bodyPr wrap="square" anchor="t" lIns="0" rIns="0" tIns="0" bIns="0">
            <a:normAutofit fontScale="100000" lnSpcReduction="5973"/>
          </a:bodyPr>
          <a:lstStyle/>
          <a:p>
            <a:pPr>
              <a:lnSpc>
                <a:spcPct val="128000"/>
              </a:lnSpc>
            </a:pPr>
            <a:r>
              <a:rPr sz="3400" b="0" i="0">
                <a:solidFill>
                  <a:srgbClr val="132033"/>
                </a:solidFill>
                <a:latin typeface="Arial"/>
                <a:ea typeface="微软雅黑"/>
              </a:rPr>
              <a:t>已实现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400" y="5370196"/>
            <a:ext cx="10871200" cy="37560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65000"/>
              </a:lnSpc>
            </a:pPr>
            <a:r>
              <a:rPr sz="1500" b="0" i="0">
                <a:solidFill>
                  <a:srgbClr val="344358"/>
                </a:solidFill>
                <a:latin typeface="Arial"/>
                <a:ea typeface="微软雅黑"/>
              </a:rPr>
              <a:t>未实现（备选方向）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3600" y="2062742"/>
            <a:ext cx="10464800" cy="1171127"/>
          </a:xfrm>
          <a:prstGeom prst="rect">
            <a:avLst/>
          </a:prstGeom>
          <a:noFill/>
        </p:spPr>
        <p:txBody>
          <a:bodyPr wrap="square" anchor="t" lIns="0" rIns="0" tIns="0" bIns="0">
            <a:normAutofit fontScale="75897" lnSpcReduction="10000"/>
          </a:bodyPr>
          <a:lstStyle/>
          <a:p>
            <a:pPr marL="228600" indent="-228600">
              <a:lnSpc>
                <a:spcPct val="165000"/>
              </a:lnSpc>
              <a:buClr>
                <a:srgbClr val="1D4ED8"/>
              </a:buClr>
              <a:buFont typeface="Arial"/>
              <a:buChar char="—"/>
            </a:pPr>
            <a:r>
              <a:rPr sz="1500" b="0" i="0">
                <a:solidFill>
                  <a:srgbClr val="344358"/>
                </a:solidFill>
                <a:latin typeface="Arial"/>
                <a:ea typeface="微软雅黑"/>
              </a:rPr>
              <a:t>统一的发布、检索、认领状态入口</a:t>
            </a:r>
          </a:p>
          <a:p>
            <a:pPr marL="228600" indent="-228600">
              <a:lnSpc>
                <a:spcPct val="165000"/>
              </a:lnSpc>
              <a:spcBef>
                <a:spcPts val="1200"/>
              </a:spcBef>
              <a:buClr>
                <a:srgbClr val="1D4ED8"/>
              </a:buClr>
              <a:buFont typeface="Arial"/>
              <a:buChar char="—"/>
            </a:pPr>
            <a:r>
              <a:rPr sz="1500" b="0" i="0">
                <a:solidFill>
                  <a:srgbClr val="344358"/>
                </a:solidFill>
                <a:latin typeface="Arial"/>
                <a:ea typeface="微软雅黑"/>
              </a:rPr>
              <a:t>文字描述、物品类别、拾取地点、记录状态</a:t>
            </a:r>
          </a:p>
          <a:p>
            <a:pPr marL="228600" indent="-228600">
              <a:lnSpc>
                <a:spcPct val="165000"/>
              </a:lnSpc>
              <a:spcBef>
                <a:spcPts val="1200"/>
              </a:spcBef>
              <a:buClr>
                <a:srgbClr val="1D4ED8"/>
              </a:buClr>
              <a:buFont typeface="Arial"/>
              <a:buChar char="—"/>
            </a:pPr>
            <a:r>
              <a:rPr sz="1500" b="0" i="0">
                <a:solidFill>
                  <a:srgbClr val="344358"/>
                </a:solidFill>
                <a:latin typeface="Arial"/>
                <a:ea typeface="微软雅黑"/>
              </a:rPr>
              <a:t>关键词匹配 + 分类筛选检索</a:t>
            </a:r>
          </a:p>
          <a:p>
            <a:pPr marL="228600" indent="-228600">
              <a:lnSpc>
                <a:spcPct val="165000"/>
              </a:lnSpc>
              <a:spcBef>
                <a:spcPts val="1200"/>
              </a:spcBef>
              <a:buClr>
                <a:srgbClr val="1D4ED8"/>
              </a:buClr>
              <a:buFont typeface="Arial"/>
              <a:buChar char="—"/>
            </a:pPr>
            <a:r>
              <a:rPr sz="1500" b="0" i="0">
                <a:solidFill>
                  <a:srgbClr val="344358"/>
                </a:solidFill>
                <a:latin typeface="Arial"/>
                <a:ea typeface="微软雅黑"/>
              </a:rPr>
              <a:t>线下人工核验身份后更新状态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3600" y="3818069"/>
            <a:ext cx="10464800" cy="1171127"/>
          </a:xfrm>
          <a:prstGeom prst="rect">
            <a:avLst/>
          </a:prstGeom>
          <a:noFill/>
        </p:spPr>
        <p:txBody>
          <a:bodyPr wrap="square" anchor="t" lIns="0" rIns="0" tIns="0" bIns="0">
            <a:normAutofit fontScale="75897" lnSpcReduction="10000"/>
          </a:bodyPr>
          <a:lstStyle/>
          <a:p>
            <a:pPr marL="228600" indent="-228600">
              <a:lnSpc>
                <a:spcPct val="165000"/>
              </a:lnSpc>
              <a:buClr>
                <a:srgbClr val="1D4ED8"/>
              </a:buClr>
              <a:buFont typeface="Arial"/>
              <a:buChar char="—"/>
            </a:pPr>
            <a:r>
              <a:rPr sz="1500" b="0" i="0">
                <a:solidFill>
                  <a:srgbClr val="344358"/>
                </a:solidFill>
                <a:latin typeface="Arial"/>
                <a:ea typeface="微软雅黑"/>
              </a:rPr>
              <a:t>图片相似度检索</a:t>
            </a:r>
          </a:p>
          <a:p>
            <a:pPr marL="228600" indent="-228600">
              <a:lnSpc>
                <a:spcPct val="165000"/>
              </a:lnSpc>
              <a:spcBef>
                <a:spcPts val="1200"/>
              </a:spcBef>
              <a:buClr>
                <a:srgbClr val="1D4ED8"/>
              </a:buClr>
              <a:buFont typeface="Arial"/>
              <a:buChar char="—"/>
            </a:pPr>
            <a:r>
              <a:rPr sz="1500" b="0" i="0">
                <a:solidFill>
                  <a:srgbClr val="344358"/>
                </a:solidFill>
                <a:latin typeface="Arial"/>
                <a:ea typeface="微软雅黑"/>
              </a:rPr>
              <a:t>智能身份识别</a:t>
            </a:r>
          </a:p>
          <a:p>
            <a:pPr marL="228600" indent="-228600">
              <a:lnSpc>
                <a:spcPct val="165000"/>
              </a:lnSpc>
              <a:spcBef>
                <a:spcPts val="1200"/>
              </a:spcBef>
              <a:buClr>
                <a:srgbClr val="1D4ED8"/>
              </a:buClr>
              <a:buFont typeface="Arial"/>
              <a:buChar char="—"/>
            </a:pPr>
            <a:r>
              <a:rPr sz="1500" b="0" i="0">
                <a:solidFill>
                  <a:srgbClr val="344358"/>
                </a:solidFill>
                <a:latin typeface="Arial"/>
                <a:ea typeface="微软雅黑"/>
              </a:rPr>
              <a:t>语义检索（对比关键词的准确率未实施）</a:t>
            </a:r>
          </a:p>
          <a:p>
            <a:pPr marL="228600" indent="-228600">
              <a:lnSpc>
                <a:spcPct val="165000"/>
              </a:lnSpc>
              <a:spcBef>
                <a:spcPts val="1200"/>
              </a:spcBef>
              <a:buClr>
                <a:srgbClr val="1D4ED8"/>
              </a:buClr>
              <a:buFont typeface="Arial"/>
              <a:buChar char="—"/>
            </a:pPr>
            <a:r>
              <a:rPr sz="1500" b="0" i="0">
                <a:solidFill>
                  <a:srgbClr val="344358"/>
                </a:solidFill>
                <a:latin typeface="Arial"/>
                <a:ea typeface="微软雅黑"/>
              </a:rPr>
              <a:t>实时聊天、跨校区推荐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400" y="5923598"/>
            <a:ext cx="10871200" cy="37560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65000"/>
              </a:lnSpc>
            </a:pPr>
            <a:r>
              <a:rPr sz="1500" b="0" i="0">
                <a:solidFill>
                  <a:srgbClr val="344358"/>
                </a:solidFill>
                <a:latin typeface="Arial"/>
                <a:ea typeface="微软雅黑"/>
              </a:rPr>
              <a:t>代价：用户需选择关键词，身份判断依赖人工。当前取舍属于设计解释，并非经实验验证的最优结论。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rect"/>
          <p:cNvSpPr/>
          <p:nvPr/>
        </p:nvSpPr>
        <p:spPr>
          <a:xfrm>
            <a:off x="0" y="0"/>
            <a:ext cx="1706880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0400" y="533400"/>
            <a:ext cx="10871200" cy="6190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8000"/>
              </a:lnSpc>
            </a:pPr>
            <a:r>
              <a:rPr sz="3400" b="0" i="0">
                <a:solidFill>
                  <a:srgbClr val="132033"/>
                </a:solidFill>
                <a:latin typeface="Arial"/>
                <a:ea typeface="微软雅黑"/>
              </a:rPr>
              <a:t>功能验证：基本路径通过本地数据检查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400" y="1355628"/>
            <a:ext cx="10871200" cy="153964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228600" indent="-228600">
              <a:lnSpc>
                <a:spcPct val="162000"/>
              </a:lnSpc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在本地构造 12 条物品记录（证件 4、电子设备 3、日用品 5）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验证发布、关键词检索、状态标签与数据对应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无匹配查询返回空结果提示（手动观察，边界测试待补充）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3276276"/>
            <a:ext cx="4978400" cy="17193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0000"/>
              </a:lnSpc>
            </a:pPr>
            <a:r>
              <a:rPr sz="4600" b="0" i="0">
                <a:solidFill>
                  <a:srgbClr val="1D4ED8"/>
                </a:solidFill>
                <a:latin typeface="Arial"/>
                <a:ea typeface="微软雅黑"/>
              </a:rPr>
              <a:t>12 条</a:t>
            </a:r>
          </a:p>
          <a:p>
            <a:pPr>
              <a:lnSpc>
                <a:spcPct val="140000"/>
              </a:lnSpc>
              <a:spcBef>
                <a:spcPts val="600"/>
              </a:spcBef>
            </a:pPr>
            <a:r>
              <a:rPr sz="1400" b="1" i="0">
                <a:solidFill>
                  <a:srgbClr val="132033"/>
                </a:solidFill>
                <a:latin typeface="Arial"/>
                <a:ea typeface="微软雅黑"/>
              </a:rPr>
              <a:t>本地测试记录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sz="1200" b="0" i="0">
                <a:solidFill>
                  <a:srgbClr val="59687B"/>
                </a:solidFill>
                <a:latin typeface="Arial"/>
                <a:ea typeface="微软雅黑"/>
              </a:rPr>
              <a:t>待认领 8 / 已认领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75400" y="3276276"/>
            <a:ext cx="4978400" cy="17193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0000"/>
              </a:lnSpc>
            </a:pPr>
            <a:r>
              <a:rPr sz="4600" b="0" i="0">
                <a:solidFill>
                  <a:srgbClr val="1D4ED8"/>
                </a:solidFill>
                <a:latin typeface="Arial"/>
                <a:ea typeface="微软雅黑"/>
              </a:rPr>
              <a:t>可行</a:t>
            </a:r>
          </a:p>
          <a:p>
            <a:pPr>
              <a:lnSpc>
                <a:spcPct val="140000"/>
              </a:lnSpc>
              <a:spcBef>
                <a:spcPts val="600"/>
              </a:spcBef>
            </a:pPr>
            <a:r>
              <a:rPr sz="1400" b="1" i="0">
                <a:solidFill>
                  <a:srgbClr val="132033"/>
                </a:solidFill>
                <a:latin typeface="Arial"/>
                <a:ea typeface="微软雅黑"/>
              </a:rPr>
              <a:t>关键词检索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sz="1200" b="0" i="0">
                <a:solidFill>
                  <a:srgbClr val="59687B"/>
                </a:solidFill>
                <a:latin typeface="Arial"/>
                <a:ea typeface="微软雅黑"/>
              </a:rPr>
              <a:t>基本路径可显示查询结果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rect"/>
          <p:cNvSpPr/>
          <p:nvPr/>
        </p:nvSpPr>
        <p:spPr>
          <a:xfrm>
            <a:off x="0" y="0"/>
            <a:ext cx="1706880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0400" y="533400"/>
            <a:ext cx="10871200" cy="6190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8000"/>
              </a:lnSpc>
            </a:pPr>
            <a:r>
              <a:rPr sz="3400" b="0" i="0">
                <a:solidFill>
                  <a:srgbClr val="132033"/>
                </a:solidFill>
                <a:latin typeface="Arial"/>
                <a:ea typeface="微软雅黑"/>
              </a:rPr>
              <a:t>未验证的边界：角色假设、搜索策略与风险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400" y="1355628"/>
            <a:ext cx="10871200" cy="146935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228600" indent="-228600">
              <a:lnSpc>
                <a:spcPct val="162000"/>
              </a:lnSpc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角色与任务来自场景设定，未通过用户访谈验证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关键词搜索可能遗漏同义表述，未与语义检索对比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未测试并发更新冲突、误操作恢复与恶意认领防护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60400" y="3028185"/>
          <a:ext cx="10871200" cy="2145287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623733"/>
                <a:gridCol w="3623733"/>
                <a:gridCol w="3623734"/>
              </a:tblGrid>
              <a:tr h="536321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32033"/>
                          </a:solidFill>
                          <a:latin typeface="Arial"/>
                          <a:ea typeface="微软雅黑"/>
                        </a:rPr>
                        <a:t>未验证项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>
                      <a:solidFill>
                        <a:srgbClr val="1D4ED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32033"/>
                          </a:solidFill>
                          <a:latin typeface="Arial"/>
                          <a:ea typeface="微软雅黑"/>
                        </a:rPr>
                        <a:t>当前状态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>
                      <a:solidFill>
                        <a:srgbClr val="1D4ED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32033"/>
                          </a:solidFill>
                          <a:latin typeface="Arial"/>
                          <a:ea typeface="微软雅黑"/>
                        </a:rPr>
                        <a:t>潜在风险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>
                      <a:solidFill>
                        <a:srgbClr val="1D4ED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6321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44358"/>
                          </a:solidFill>
                          <a:latin typeface="Arial"/>
                          <a:ea typeface="微软雅黑"/>
                        </a:rPr>
                        <a:t>角色假设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DDE4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44358"/>
                          </a:solidFill>
                          <a:latin typeface="Arial"/>
                          <a:ea typeface="微软雅黑"/>
                        </a:rPr>
                        <a:t>基于场景设定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DDE4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44358"/>
                          </a:solidFill>
                          <a:latin typeface="Arial"/>
                          <a:ea typeface="微软雅黑"/>
                        </a:rPr>
                        <a:t>失主/拾获者/管理员需求可能偏离实际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DDE4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6321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44358"/>
                          </a:solidFill>
                          <a:latin typeface="Arial"/>
                          <a:ea typeface="微软雅黑"/>
                        </a:rPr>
                        <a:t>搜索策略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DDE4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44358"/>
                          </a:solidFill>
                          <a:latin typeface="Arial"/>
                          <a:ea typeface="微软雅黑"/>
                        </a:rPr>
                        <a:t>关键词匹配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DDE4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44358"/>
                          </a:solidFill>
                          <a:latin typeface="Arial"/>
                          <a:ea typeface="微软雅黑"/>
                        </a:rPr>
                        <a:t>同义表述遗漏，无语义检索准确率对比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DDE4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6324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44358"/>
                          </a:solidFill>
                          <a:latin typeface="Arial"/>
                          <a:ea typeface="微软雅黑"/>
                        </a:rPr>
                        <a:t>风险防护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DDE4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44358"/>
                          </a:solidFill>
                          <a:latin typeface="Arial"/>
                          <a:ea typeface="微软雅黑"/>
                        </a:rPr>
                        <a:t>人工核验与恢复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DDE4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44358"/>
                          </a:solidFill>
                          <a:latin typeface="Arial"/>
                          <a:ea typeface="微软雅黑"/>
                        </a:rPr>
                        <a:t>并发冲突、误操作、恶意认领未测试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DDE4EE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rect"/>
          <p:cNvSpPr/>
          <p:nvPr/>
        </p:nvSpPr>
        <p:spPr>
          <a:xfrm>
            <a:off x="0" y="0"/>
            <a:ext cx="1706880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0400" y="533400"/>
            <a:ext cx="10871200" cy="6190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8000"/>
              </a:lnSpc>
            </a:pPr>
            <a:r>
              <a:rPr sz="3400" b="0" i="0">
                <a:solidFill>
                  <a:srgbClr val="132033"/>
                </a:solidFill>
                <a:latin typeface="Arial"/>
                <a:ea typeface="微软雅黑"/>
              </a:rPr>
              <a:t>阶段性结论：原型可行，真实价值待验证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400" y="3649509"/>
            <a:ext cx="10871200" cy="66038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65000"/>
              </a:lnSpc>
            </a:pPr>
            <a:r>
              <a:rPr sz="1500" b="0" i="0">
                <a:solidFill>
                  <a:srgbClr val="344358"/>
                </a:solidFill>
                <a:latin typeface="Arial"/>
                <a:ea typeface="微软雅黑"/>
              </a:rPr>
              <a:t>原型已连接发布、检索和状态展示的基本流程，但真实用户价值、规模化性能及完整安全性均未验证。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400" y="1355628"/>
            <a:ext cx="5334000" cy="165457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228600" indent="-228600">
              <a:lnSpc>
                <a:spcPct val="162000"/>
              </a:lnSpc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已验证：基本流程通畅（发布—检索—状态更新）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已验证：本地虚构数据可演示基础功能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97600" y="1355628"/>
            <a:ext cx="5334000" cy="165457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228600" indent="-228600">
              <a:lnSpc>
                <a:spcPct val="162000"/>
              </a:lnSpc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未验证：真实用户价值与使用意愿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未验证：规模化性能与并发处理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未验证：安全机制与异常恢复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400" y="4513090"/>
            <a:ext cx="10871200" cy="66038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228600" indent="-228600">
              <a:lnSpc>
                <a:spcPct val="162000"/>
              </a:lnSpc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后续建议：用户可用性测试、异常场景覆盖、同义词查询案例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